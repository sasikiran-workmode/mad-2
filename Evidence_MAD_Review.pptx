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IN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Click to edit the notes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5A5F2513-AC8D-4849-9199-7632D0633B51}" type="slidenum"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Evidence-MAD. Three retrieval agents, an NLI evidence gate, and a typed debate. Repo is public; all numbers in this deck come from trace JSON files the system writes itself.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07A8975-FCE2-4874-93BA-691FCDAE544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gate is the contribution. Standard MAD always debates; we only debate on measured disagreement, and we classify the disagreement before debating it.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BE43D2-3751-49C4-B2B1-41F480AA87A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Independence matters: no agent gets a modified query, so any disagreement observed is real and not something we induced. Stage 3 is where our contribution sits.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2F4BB4-25E2-426D-B5BE-EAA3DA302D9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Thresholds live in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config.py: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DISAGREEMENT_T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HRESHOLD = 0.70,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ENTAILMENT_THRE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SHOLD = 0.70. Mock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mode is what --demo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uses so results are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reproducible without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 download.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BE4C9D-7570-4F07-B901-407BAD62007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Judge is only called when debate status == completed. Stop reasons are recorded per run so we can report how often early stopping saved rounds.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679EF3-BBBC-4F64-9D5D-62E6BEA6202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78 tests cover aggregator, conflict typing, debate, relevance filter, retrieval failure and LLM failure paths. Run: venv/bin/python -m pytest tests/ -q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789582C-3BD1-43CE-8C6F-622E210AAF4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Both charts are from the FIXTURE run so they are reproducible on demand in front of the panel.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32AA80-FFB6-4095-9ABE-FE7526B7A67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If asked about the 93.3%: it is fixture coverage, and the fix is adding cases to data/fixtures.json. The design choice to fail loudly rather than fall back silently is deliberate.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1D0F23-96A9-4F60-9CF3-1E2C496F39A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IN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822960" y="960120"/>
            <a:ext cx="10515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822960" y="1371600"/>
            <a:ext cx="1024092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4201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mbria"/>
                <a:ea typeface="Cambria"/>
              </a:rPr>
              <a:t>Multi-Agent Debate Framework using Evidence Disagreement Triggering and Conflict-Type Classification</a:t>
            </a:r>
            <a:endParaRPr b="0" lang="en-IN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822960" y="3154680"/>
            <a:ext cx="10240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cbd9f2"/>
                </a:solidFill>
                <a:latin typeface="Calibri"/>
                <a:ea typeface="Calibri"/>
              </a:rPr>
              <a:t>Debate only when the evidence actually disagrees.</a:t>
            </a:r>
            <a:endParaRPr b="0" lang="en-IN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822960" y="3931920"/>
            <a:ext cx="3200040" cy="914040"/>
          </a:xfrm>
          <a:prstGeom prst="roundRect">
            <a:avLst>
              <a:gd name="adj" fmla="val 8000"/>
            </a:avLst>
          </a:prstGeom>
          <a:solidFill>
            <a:srgbClr val="1b2b55"/>
          </a:solidFill>
          <a:ln w="12700">
            <a:solidFill>
              <a:srgbClr val="2b3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1051560" y="40690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M. Reddy Sasi Kiran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1051560" y="437076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bd9f2"/>
                </a:solidFill>
                <a:latin typeface="Courier New"/>
                <a:ea typeface="Courier New"/>
              </a:rPr>
              <a:t>23BAI1188</a:t>
            </a:r>
            <a:endParaRPr b="0" lang="en-IN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4343400" y="3931920"/>
            <a:ext cx="3200040" cy="914040"/>
          </a:xfrm>
          <a:prstGeom prst="roundRect">
            <a:avLst>
              <a:gd name="adj" fmla="val 8000"/>
            </a:avLst>
          </a:prstGeom>
          <a:solidFill>
            <a:srgbClr val="1b2b55"/>
          </a:solidFill>
          <a:ln w="12700">
            <a:solidFill>
              <a:srgbClr val="2b3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4572000" y="40690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Suhas Koheda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4572000" y="437076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bd9f2"/>
                </a:solidFill>
                <a:latin typeface="Courier New"/>
                <a:ea typeface="Courier New"/>
              </a:rPr>
              <a:t>23BAI1148</a:t>
            </a:r>
            <a:endParaRPr b="0" lang="en-IN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7863840" y="3931920"/>
            <a:ext cx="3200040" cy="914040"/>
          </a:xfrm>
          <a:prstGeom prst="roundRect">
            <a:avLst>
              <a:gd name="adj" fmla="val 8000"/>
            </a:avLst>
          </a:prstGeom>
          <a:solidFill>
            <a:srgbClr val="1b2b55"/>
          </a:solidFill>
          <a:ln w="12700">
            <a:solidFill>
              <a:srgbClr val="2b3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8092440" y="40690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C R Suhas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8092440" y="437076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bd9f2"/>
                </a:solidFill>
                <a:latin typeface="Courier New"/>
                <a:ea typeface="Courier New"/>
              </a:rPr>
              <a:t>23BAI1187</a:t>
            </a:r>
            <a:endParaRPr b="0" lang="en-IN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822960" y="525780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fa0c4"/>
                </a:solidFill>
                <a:latin typeface="Courier New"/>
                <a:ea typeface="Courier New"/>
              </a:rPr>
              <a:t>github.com/Suhas-Koheda/MAD   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0"/>
          <p:cNvSpPr/>
          <p:nvPr/>
        </p:nvSpPr>
        <p:spPr>
          <a:xfrm>
            <a:off x="548640" y="311040"/>
            <a:ext cx="11063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9" strike="noStrike">
                <a:solidFill>
                  <a:srgbClr val="c8761e"/>
                </a:solidFill>
                <a:latin typeface="Calibri"/>
                <a:ea typeface="Calibri"/>
              </a:rPr>
              <a:t>MOTIVATION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1"/>
          <p:cNvSpPr/>
          <p:nvPr/>
        </p:nvSpPr>
        <p:spPr>
          <a:xfrm>
            <a:off x="548640" y="567000"/>
            <a:ext cx="110638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32347"/>
                </a:solidFill>
                <a:latin typeface="Cambria"/>
                <a:ea typeface="Cambria"/>
              </a:rPr>
              <a:t>The problem, and what we add to Multi-Agent Debate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Shape 2"/>
          <p:cNvSpPr/>
          <p:nvPr/>
        </p:nvSpPr>
        <p:spPr>
          <a:xfrm>
            <a:off x="548640" y="1325880"/>
            <a:ext cx="5394600" cy="4845960"/>
          </a:xfrm>
          <a:prstGeom prst="roundRect">
            <a:avLst>
              <a:gd name="adj" fmla="val 1509"/>
            </a:avLst>
          </a:prstGeom>
          <a:solidFill>
            <a:srgbClr val="f1f4fb"/>
          </a:solidFill>
          <a:ln w="12700">
            <a:solidFill>
              <a:srgbClr val="f1f4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3"/>
          <p:cNvSpPr/>
          <p:nvPr/>
        </p:nvSpPr>
        <p:spPr>
          <a:xfrm>
            <a:off x="868680" y="1554480"/>
            <a:ext cx="4754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32347"/>
                </a:solidFill>
                <a:latin typeface="Cambria"/>
                <a:ea typeface="Cambria"/>
              </a:rPr>
              <a:t>What goes wrong today</a:t>
            </a:r>
            <a:endParaRPr b="0" lang="en-IN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Shape 4"/>
          <p:cNvSpPr/>
          <p:nvPr/>
        </p:nvSpPr>
        <p:spPr>
          <a:xfrm>
            <a:off x="868680" y="2011680"/>
            <a:ext cx="310680" cy="310680"/>
          </a:xfrm>
          <a:prstGeom prst="ellipse">
            <a:avLst/>
          </a:prstGeom>
          <a:solidFill>
            <a:srgbClr val="a82c39"/>
          </a:solidFill>
          <a:ln w="12700">
            <a:solidFill>
              <a:srgbClr val="a82c3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 5"/>
          <p:cNvSpPr/>
          <p:nvPr/>
        </p:nvSpPr>
        <p:spPr>
          <a:xfrm>
            <a:off x="868680" y="20116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6"/>
          <p:cNvSpPr/>
          <p:nvPr/>
        </p:nvSpPr>
        <p:spPr>
          <a:xfrm>
            <a:off x="1325880" y="1993320"/>
            <a:ext cx="4297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32347"/>
                </a:solidFill>
                <a:latin typeface="Calibri"/>
                <a:ea typeface="Calibri"/>
              </a:rPr>
              <a:t>Sources genuinely disagree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7"/>
          <p:cNvSpPr/>
          <p:nvPr/>
        </p:nvSpPr>
        <p:spPr>
          <a:xfrm>
            <a:off x="1325880" y="2286000"/>
            <a:ext cx="4343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d6884"/>
                </a:solidFill>
                <a:latin typeface="Calibri"/>
                <a:ea typeface="Calibri"/>
              </a:rPr>
              <a:t>“</a:t>
            </a:r>
            <a:r>
              <a:rPr b="0" lang="en-US" sz="1200" spc="-1" strike="noStrike">
                <a:solidFill>
                  <a:srgbClr val="5d6884"/>
                </a:solidFill>
                <a:latin typeface="Calibri"/>
                <a:ea typeface="Calibri"/>
              </a:rPr>
              <a:t>When was India’s NEP introduced?” → Wikipedia says 1986, web says 2020. Both are real answers to different questions.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Shape 8"/>
          <p:cNvSpPr/>
          <p:nvPr/>
        </p:nvSpPr>
        <p:spPr>
          <a:xfrm>
            <a:off x="868680" y="3429000"/>
            <a:ext cx="310680" cy="310680"/>
          </a:xfrm>
          <a:prstGeom prst="ellipse">
            <a:avLst/>
          </a:prstGeom>
          <a:solidFill>
            <a:srgbClr val="a82c39"/>
          </a:solidFill>
          <a:ln w="12700">
            <a:solidFill>
              <a:srgbClr val="a82c3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9"/>
          <p:cNvSpPr/>
          <p:nvPr/>
        </p:nvSpPr>
        <p:spPr>
          <a:xfrm>
            <a:off x="868680" y="34290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10"/>
          <p:cNvSpPr/>
          <p:nvPr/>
        </p:nvSpPr>
        <p:spPr>
          <a:xfrm>
            <a:off x="1325880" y="3410640"/>
            <a:ext cx="4297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32347"/>
                </a:solidFill>
                <a:latin typeface="Calibri"/>
                <a:ea typeface="Calibri"/>
              </a:rPr>
              <a:t>A single LLM hides the conflict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11"/>
          <p:cNvSpPr/>
          <p:nvPr/>
        </p:nvSpPr>
        <p:spPr>
          <a:xfrm>
            <a:off x="1325880" y="3703320"/>
            <a:ext cx="4343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d6884"/>
                </a:solidFill>
                <a:latin typeface="Calibri"/>
                <a:ea typeface="Calibri"/>
              </a:rPr>
              <a:t>It picks one version silently, with no source and no signal that anything was contested.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12"/>
          <p:cNvSpPr/>
          <p:nvPr/>
        </p:nvSpPr>
        <p:spPr>
          <a:xfrm>
            <a:off x="868680" y="4846320"/>
            <a:ext cx="310680" cy="310680"/>
          </a:xfrm>
          <a:prstGeom prst="ellipse">
            <a:avLst/>
          </a:prstGeom>
          <a:solidFill>
            <a:srgbClr val="a82c39"/>
          </a:solidFill>
          <a:ln w="12700">
            <a:solidFill>
              <a:srgbClr val="a82c3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 13"/>
          <p:cNvSpPr/>
          <p:nvPr/>
        </p:nvSpPr>
        <p:spPr>
          <a:xfrm>
            <a:off x="868680" y="484632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14"/>
          <p:cNvSpPr/>
          <p:nvPr/>
        </p:nvSpPr>
        <p:spPr>
          <a:xfrm>
            <a:off x="1325880" y="4827960"/>
            <a:ext cx="4297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32347"/>
                </a:solidFill>
                <a:latin typeface="Calibri"/>
                <a:ea typeface="Calibri"/>
              </a:rPr>
              <a:t>Standard MAD debates everything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15"/>
          <p:cNvSpPr/>
          <p:nvPr/>
        </p:nvSpPr>
        <p:spPr>
          <a:xfrm>
            <a:off x="1325880" y="5120640"/>
            <a:ext cx="4343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d6884"/>
                </a:solidFill>
                <a:latin typeface="Calibri"/>
                <a:ea typeface="Calibri"/>
              </a:rPr>
              <a:t>Prior work runs a full debate on every query — 6–8 extra LLM calls even when all three sources already agree.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Shape 16"/>
          <p:cNvSpPr/>
          <p:nvPr/>
        </p:nvSpPr>
        <p:spPr>
          <a:xfrm>
            <a:off x="6217920" y="1325880"/>
            <a:ext cx="5394600" cy="4845960"/>
          </a:xfrm>
          <a:prstGeom prst="roundRect">
            <a:avLst>
              <a:gd name="adj" fmla="val 1509"/>
            </a:avLst>
          </a:prstGeom>
          <a:solidFill>
            <a:srgbClr val="132347"/>
          </a:solidFill>
          <a:ln w="12700">
            <a:solidFill>
              <a:srgbClr val="1323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 17"/>
          <p:cNvSpPr/>
          <p:nvPr/>
        </p:nvSpPr>
        <p:spPr>
          <a:xfrm>
            <a:off x="6537960" y="1554480"/>
            <a:ext cx="4754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Cambria"/>
                <a:ea typeface="Cambria"/>
              </a:rPr>
              <a:t>Our three contributions</a:t>
            </a:r>
            <a:endParaRPr b="0" lang="en-IN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18"/>
          <p:cNvSpPr/>
          <p:nvPr/>
        </p:nvSpPr>
        <p:spPr>
          <a:xfrm>
            <a:off x="6537960" y="2011680"/>
            <a:ext cx="310680" cy="310680"/>
          </a:xfrm>
          <a:prstGeom prst="ellipse">
            <a:avLst/>
          </a:prstGeom>
          <a:solidFill>
            <a:srgbClr val="c8761e"/>
          </a:solidFill>
          <a:ln w="12700">
            <a:solidFill>
              <a:srgbClr val="c876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 19"/>
          <p:cNvSpPr/>
          <p:nvPr/>
        </p:nvSpPr>
        <p:spPr>
          <a:xfrm>
            <a:off x="6537960" y="20116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20"/>
          <p:cNvSpPr/>
          <p:nvPr/>
        </p:nvSpPr>
        <p:spPr>
          <a:xfrm>
            <a:off x="6995160" y="1993320"/>
            <a:ext cx="4297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Evidence gate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21"/>
          <p:cNvSpPr/>
          <p:nvPr/>
        </p:nvSpPr>
        <p:spPr>
          <a:xfrm>
            <a:off x="6995160" y="2286000"/>
            <a:ext cx="43887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bd9f2"/>
                </a:solidFill>
                <a:latin typeface="Calibri"/>
                <a:ea typeface="Calibri"/>
              </a:rPr>
              <a:t>Debate fires only when NLI measures a real contradiction between agents.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22"/>
          <p:cNvSpPr/>
          <p:nvPr/>
        </p:nvSpPr>
        <p:spPr>
          <a:xfrm>
            <a:off x="6995160" y="2926080"/>
            <a:ext cx="4388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0b366"/>
                </a:solidFill>
                <a:latin typeface="Courier New"/>
                <a:ea typeface="Courier New"/>
              </a:rPr>
              <a:t>evidence/aggregator.py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Shape 23"/>
          <p:cNvSpPr/>
          <p:nvPr/>
        </p:nvSpPr>
        <p:spPr>
          <a:xfrm>
            <a:off x="6537960" y="3429000"/>
            <a:ext cx="310680" cy="310680"/>
          </a:xfrm>
          <a:prstGeom prst="ellipse">
            <a:avLst/>
          </a:prstGeom>
          <a:solidFill>
            <a:srgbClr val="c8761e"/>
          </a:solidFill>
          <a:ln w="12700">
            <a:solidFill>
              <a:srgbClr val="c876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24"/>
          <p:cNvSpPr/>
          <p:nvPr/>
        </p:nvSpPr>
        <p:spPr>
          <a:xfrm>
            <a:off x="6537960" y="34290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25"/>
          <p:cNvSpPr/>
          <p:nvPr/>
        </p:nvSpPr>
        <p:spPr>
          <a:xfrm>
            <a:off x="6995160" y="3410640"/>
            <a:ext cx="4297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Typed conflict strategies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26"/>
          <p:cNvSpPr/>
          <p:nvPr/>
        </p:nvSpPr>
        <p:spPr>
          <a:xfrm>
            <a:off x="6995160" y="3703320"/>
            <a:ext cx="43887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bd9f2"/>
                </a:solidFill>
                <a:latin typeface="Calibri"/>
                <a:ea typeface="Calibri"/>
              </a:rPr>
              <a:t>5 conflict types, each with its own debate prompt instead of one generic prompt.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27"/>
          <p:cNvSpPr/>
          <p:nvPr/>
        </p:nvSpPr>
        <p:spPr>
          <a:xfrm>
            <a:off x="6995160" y="4343400"/>
            <a:ext cx="4388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0b366"/>
                </a:solidFill>
                <a:latin typeface="Courier New"/>
                <a:ea typeface="Courier New"/>
              </a:rPr>
              <a:t>conflict/classifier.py  ·  debate/proposer.py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28"/>
          <p:cNvSpPr/>
          <p:nvPr/>
        </p:nvSpPr>
        <p:spPr>
          <a:xfrm>
            <a:off x="6537960" y="4846320"/>
            <a:ext cx="310680" cy="310680"/>
          </a:xfrm>
          <a:prstGeom prst="ellipse">
            <a:avLst/>
          </a:prstGeom>
          <a:solidFill>
            <a:srgbClr val="c8761e"/>
          </a:solidFill>
          <a:ln w="12700">
            <a:solidFill>
              <a:srgbClr val="c876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29"/>
          <p:cNvSpPr/>
          <p:nvPr/>
        </p:nvSpPr>
        <p:spPr>
          <a:xfrm>
            <a:off x="6537960" y="484632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30"/>
          <p:cNvSpPr/>
          <p:nvPr/>
        </p:nvSpPr>
        <p:spPr>
          <a:xfrm>
            <a:off x="6995160" y="4827960"/>
            <a:ext cx="4297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Full audit trail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31"/>
          <p:cNvSpPr/>
          <p:nvPr/>
        </p:nvSpPr>
        <p:spPr>
          <a:xfrm>
            <a:off x="6995160" y="5120640"/>
            <a:ext cx="43887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bd9f2"/>
                </a:solidFill>
                <a:latin typeface="Calibri"/>
                <a:ea typeface="Calibri"/>
              </a:rPr>
              <a:t>Every query writes a JSON trace: claims, NLI scores, debate rounds, verdict, sources.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32"/>
          <p:cNvSpPr/>
          <p:nvPr/>
        </p:nvSpPr>
        <p:spPr>
          <a:xfrm>
            <a:off x="6995160" y="5760720"/>
            <a:ext cx="4388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0b366"/>
                </a:solidFill>
                <a:latin typeface="Courier New"/>
                <a:ea typeface="Courier New"/>
              </a:rPr>
              <a:t>results/trace_&lt;id&gt;.json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0"/>
          <p:cNvSpPr/>
          <p:nvPr/>
        </p:nvSpPr>
        <p:spPr>
          <a:xfrm>
            <a:off x="548640" y="38520"/>
            <a:ext cx="11063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1"/>
          <p:cNvSpPr/>
          <p:nvPr/>
        </p:nvSpPr>
        <p:spPr>
          <a:xfrm>
            <a:off x="567720" y="651240"/>
            <a:ext cx="10885680" cy="4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32347"/>
                </a:solidFill>
                <a:latin typeface="Cambria"/>
                <a:ea typeface="Cambria"/>
              </a:rPr>
              <a:t>End-to-end pipeline  —  app.py  ·  MADSystem.solve(query)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2"/>
          <p:cNvSpPr/>
          <p:nvPr/>
        </p:nvSpPr>
        <p:spPr>
          <a:xfrm>
            <a:off x="548640" y="1325880"/>
            <a:ext cx="11063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32347"/>
                </a:solidFill>
                <a:latin typeface="Calibri"/>
                <a:ea typeface="Calibri"/>
              </a:rPr>
              <a:t>Stage 1 · Three independent agents, same query verbatim, run in parallel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3"/>
          <p:cNvSpPr/>
          <p:nvPr/>
        </p:nvSpPr>
        <p:spPr>
          <a:xfrm>
            <a:off x="548640" y="1645920"/>
            <a:ext cx="3538440" cy="959760"/>
          </a:xfrm>
          <a:prstGeom prst="roundRect">
            <a:avLst>
              <a:gd name="adj" fmla="val 7619"/>
            </a:avLst>
          </a:prstGeom>
          <a:solidFill>
            <a:srgbClr val="e7ecf7"/>
          </a:solidFill>
          <a:ln w="12700">
            <a:solidFill>
              <a:srgbClr val="e7ec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4"/>
          <p:cNvSpPr/>
          <p:nvPr/>
        </p:nvSpPr>
        <p:spPr>
          <a:xfrm>
            <a:off x="749880" y="1737360"/>
            <a:ext cx="3108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32347"/>
                </a:solidFill>
                <a:latin typeface="Calibri"/>
                <a:ea typeface="Calibri"/>
              </a:rPr>
              <a:t>Web Agent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5"/>
          <p:cNvSpPr/>
          <p:nvPr/>
        </p:nvSpPr>
        <p:spPr>
          <a:xfrm>
            <a:off x="749880" y="1993320"/>
            <a:ext cx="31086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d6884"/>
                </a:solidFill>
                <a:latin typeface="Calibri"/>
                <a:ea typeface="Calibri"/>
              </a:rPr>
              <a:t>DuckDuckGo HTML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6"/>
          <p:cNvSpPr/>
          <p:nvPr/>
        </p:nvSpPr>
        <p:spPr>
          <a:xfrm>
            <a:off x="749880" y="2249280"/>
            <a:ext cx="3200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c8761e"/>
                </a:solidFill>
                <a:latin typeface="Courier New"/>
                <a:ea typeface="Courier New"/>
              </a:rPr>
              <a:t>WebAgent._duckduckgo_search()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7"/>
          <p:cNvSpPr/>
          <p:nvPr/>
        </p:nvSpPr>
        <p:spPr>
          <a:xfrm>
            <a:off x="4270320" y="1645920"/>
            <a:ext cx="3538440" cy="959760"/>
          </a:xfrm>
          <a:prstGeom prst="roundRect">
            <a:avLst>
              <a:gd name="adj" fmla="val 7619"/>
            </a:avLst>
          </a:prstGeom>
          <a:solidFill>
            <a:srgbClr val="e7ecf7"/>
          </a:solidFill>
          <a:ln w="12700">
            <a:solidFill>
              <a:srgbClr val="e7ec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8"/>
          <p:cNvSpPr/>
          <p:nvPr/>
        </p:nvSpPr>
        <p:spPr>
          <a:xfrm>
            <a:off x="4471560" y="1737360"/>
            <a:ext cx="3108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32347"/>
                </a:solidFill>
                <a:latin typeface="Calibri"/>
                <a:ea typeface="Calibri"/>
              </a:rPr>
              <a:t>Reference Agent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9"/>
          <p:cNvSpPr/>
          <p:nvPr/>
        </p:nvSpPr>
        <p:spPr>
          <a:xfrm>
            <a:off x="4471560" y="1993320"/>
            <a:ext cx="31086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d6884"/>
                </a:solidFill>
                <a:latin typeface="Calibri"/>
                <a:ea typeface="Calibri"/>
              </a:rPr>
              <a:t>Wikipedia API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10"/>
          <p:cNvSpPr/>
          <p:nvPr/>
        </p:nvSpPr>
        <p:spPr>
          <a:xfrm>
            <a:off x="4471560" y="2249280"/>
            <a:ext cx="3200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c8761e"/>
                </a:solidFill>
                <a:latin typeface="Courier New"/>
                <a:ea typeface="Courier New"/>
              </a:rPr>
              <a:t>ReferenceAgent._wikipedia_search()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11"/>
          <p:cNvSpPr/>
          <p:nvPr/>
        </p:nvSpPr>
        <p:spPr>
          <a:xfrm>
            <a:off x="7992000" y="1645920"/>
            <a:ext cx="3538440" cy="959760"/>
          </a:xfrm>
          <a:prstGeom prst="roundRect">
            <a:avLst>
              <a:gd name="adj" fmla="val 7619"/>
            </a:avLst>
          </a:prstGeom>
          <a:solidFill>
            <a:srgbClr val="e7ecf7"/>
          </a:solidFill>
          <a:ln w="12700">
            <a:solidFill>
              <a:srgbClr val="e7ec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12"/>
          <p:cNvSpPr/>
          <p:nvPr/>
        </p:nvSpPr>
        <p:spPr>
          <a:xfrm>
            <a:off x="8192880" y="1737360"/>
            <a:ext cx="3108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32347"/>
                </a:solidFill>
                <a:latin typeface="Calibri"/>
                <a:ea typeface="Calibri"/>
              </a:rPr>
              <a:t>Scholarly Agent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13"/>
          <p:cNvSpPr/>
          <p:nvPr/>
        </p:nvSpPr>
        <p:spPr>
          <a:xfrm>
            <a:off x="8192880" y="1993320"/>
            <a:ext cx="31086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d6884"/>
                </a:solidFill>
                <a:latin typeface="Calibri"/>
                <a:ea typeface="Calibri"/>
              </a:rPr>
              <a:t>Crossref API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14"/>
          <p:cNvSpPr/>
          <p:nvPr/>
        </p:nvSpPr>
        <p:spPr>
          <a:xfrm>
            <a:off x="8192880" y="2249280"/>
            <a:ext cx="3200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c8761e"/>
                </a:solidFill>
                <a:latin typeface="Courier New"/>
                <a:ea typeface="Courier New"/>
              </a:rPr>
              <a:t>ScholarlyAgent._crossref_search()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15"/>
          <p:cNvSpPr/>
          <p:nvPr/>
        </p:nvSpPr>
        <p:spPr>
          <a:xfrm>
            <a:off x="548640" y="2670120"/>
            <a:ext cx="11063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761e"/>
                </a:solidFill>
                <a:latin typeface="Courier New"/>
                <a:ea typeface="Courier New"/>
              </a:rPr>
              <a:t>agents/search_agent.py  ·  parallelised by agents/router.py → QueryRouter.execute()  (ThreadPoolExecutor, 3 workers)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16"/>
          <p:cNvSpPr/>
          <p:nvPr/>
        </p:nvSpPr>
        <p:spPr>
          <a:xfrm>
            <a:off x="548640" y="3108960"/>
            <a:ext cx="11063880" cy="749520"/>
          </a:xfrm>
          <a:prstGeom prst="roundRect">
            <a:avLst>
              <a:gd name="adj" fmla="val 9756"/>
            </a:avLst>
          </a:prstGeom>
          <a:solidFill>
            <a:srgbClr val="e7ecf7"/>
          </a:solidFill>
          <a:ln w="12700">
            <a:solidFill>
              <a:srgbClr val="e7ec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17"/>
          <p:cNvSpPr/>
          <p:nvPr/>
        </p:nvSpPr>
        <p:spPr>
          <a:xfrm>
            <a:off x="749880" y="3328560"/>
            <a:ext cx="310680" cy="310680"/>
          </a:xfrm>
          <a:prstGeom prst="ellipse">
            <a:avLst/>
          </a:prstGeom>
          <a:solidFill>
            <a:srgbClr val="1c7f68"/>
          </a:solidFill>
          <a:ln w="12700">
            <a:solidFill>
              <a:srgbClr val="1c7f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 18"/>
          <p:cNvSpPr/>
          <p:nvPr/>
        </p:nvSpPr>
        <p:spPr>
          <a:xfrm>
            <a:off x="749880" y="332856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19"/>
          <p:cNvSpPr/>
          <p:nvPr/>
        </p:nvSpPr>
        <p:spPr>
          <a:xfrm>
            <a:off x="1188720" y="320940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32347"/>
                </a:solidFill>
                <a:latin typeface="Calibri"/>
                <a:ea typeface="Calibri"/>
              </a:rPr>
              <a:t>Normalize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20"/>
          <p:cNvSpPr/>
          <p:nvPr/>
        </p:nvSpPr>
        <p:spPr>
          <a:xfrm>
            <a:off x="1188720" y="3511440"/>
            <a:ext cx="2377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9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" name="Text 21"/>
          <p:cNvSpPr/>
          <p:nvPr/>
        </p:nvSpPr>
        <p:spPr>
          <a:xfrm>
            <a:off x="3154680" y="3191400"/>
            <a:ext cx="576036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d6884"/>
                </a:solidFill>
                <a:latin typeface="Calibri"/>
                <a:ea typeface="Calibri"/>
              </a:rPr>
              <a:t>Relevance filter drops off-topic hits, then one LLM call turns the surviving snippets into a single claim per agent, with date / version / scope extracted.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22"/>
          <p:cNvSpPr/>
          <p:nvPr/>
        </p:nvSpPr>
        <p:spPr>
          <a:xfrm>
            <a:off x="9052560" y="3291840"/>
            <a:ext cx="2468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c8761e"/>
                </a:solidFill>
                <a:latin typeface="Courier New"/>
                <a:ea typeface="Courier New"/>
              </a:rPr>
              <a:t>evidence/normalizer.py → _is_relevant(), _llm_normalize()</a:t>
            </a:r>
            <a:endParaRPr b="0" lang="en-IN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23"/>
          <p:cNvSpPr/>
          <p:nvPr/>
        </p:nvSpPr>
        <p:spPr>
          <a:xfrm>
            <a:off x="548640" y="3959280"/>
            <a:ext cx="11063880" cy="749520"/>
          </a:xfrm>
          <a:prstGeom prst="roundRect">
            <a:avLst>
              <a:gd name="adj" fmla="val 9756"/>
            </a:avLst>
          </a:prstGeom>
          <a:solidFill>
            <a:srgbClr val="f1f4fb"/>
          </a:solidFill>
          <a:ln w="12700">
            <a:solidFill>
              <a:srgbClr val="f1f4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24"/>
          <p:cNvSpPr/>
          <p:nvPr/>
        </p:nvSpPr>
        <p:spPr>
          <a:xfrm>
            <a:off x="749880" y="4178880"/>
            <a:ext cx="310680" cy="310680"/>
          </a:xfrm>
          <a:prstGeom prst="ellipse">
            <a:avLst/>
          </a:prstGeom>
          <a:solidFill>
            <a:srgbClr val="c8761e"/>
          </a:solidFill>
          <a:ln w="12700">
            <a:solidFill>
              <a:srgbClr val="c876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 25"/>
          <p:cNvSpPr/>
          <p:nvPr/>
        </p:nvSpPr>
        <p:spPr>
          <a:xfrm>
            <a:off x="749880" y="41788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26"/>
          <p:cNvSpPr/>
          <p:nvPr/>
        </p:nvSpPr>
        <p:spPr>
          <a:xfrm>
            <a:off x="1188720" y="406008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32347"/>
                </a:solidFill>
                <a:latin typeface="Calibri"/>
                <a:ea typeface="Calibri"/>
              </a:rPr>
              <a:t>Gate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27"/>
          <p:cNvSpPr/>
          <p:nvPr/>
        </p:nvSpPr>
        <p:spPr>
          <a:xfrm>
            <a:off x="1188720" y="4361760"/>
            <a:ext cx="2377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9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2" name="Text 28"/>
          <p:cNvSpPr/>
          <p:nvPr/>
        </p:nvSpPr>
        <p:spPr>
          <a:xfrm>
            <a:off x="3154680" y="4041720"/>
            <a:ext cx="576036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d6884"/>
                </a:solidFill>
                <a:latin typeface="Calibri"/>
                <a:ea typeface="Calibri"/>
              </a:rPr>
              <a:t>Pairwise NLI over all usable claims returns one of four states: AGREEMENT, DISAGREEMENT, UNCERTAIN, INSUFFICIENT. Only DISAGREEMENT opens the debate.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29"/>
          <p:cNvSpPr/>
          <p:nvPr/>
        </p:nvSpPr>
        <p:spPr>
          <a:xfrm>
            <a:off x="9052560" y="4142160"/>
            <a:ext cx="2468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c8761e"/>
                </a:solidFill>
                <a:latin typeface="Courier New"/>
                <a:ea typeface="Courier New"/>
              </a:rPr>
              <a:t>evidence/aggregator.py → EvidenceAggregator.decide()</a:t>
            </a:r>
            <a:endParaRPr b="0" lang="en-IN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30"/>
          <p:cNvSpPr/>
          <p:nvPr/>
        </p:nvSpPr>
        <p:spPr>
          <a:xfrm>
            <a:off x="548640" y="4809600"/>
            <a:ext cx="11063880" cy="749520"/>
          </a:xfrm>
          <a:prstGeom prst="roundRect">
            <a:avLst>
              <a:gd name="adj" fmla="val 9756"/>
            </a:avLst>
          </a:prstGeom>
          <a:solidFill>
            <a:srgbClr val="e7ecf7"/>
          </a:solidFill>
          <a:ln w="12700">
            <a:solidFill>
              <a:srgbClr val="e7ec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31"/>
          <p:cNvSpPr/>
          <p:nvPr/>
        </p:nvSpPr>
        <p:spPr>
          <a:xfrm>
            <a:off x="749880" y="5029200"/>
            <a:ext cx="310680" cy="310680"/>
          </a:xfrm>
          <a:prstGeom prst="ellipse">
            <a:avLst/>
          </a:prstGeom>
          <a:solidFill>
            <a:srgbClr val="a82c39"/>
          </a:solidFill>
          <a:ln w="12700">
            <a:solidFill>
              <a:srgbClr val="a82c3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 32"/>
          <p:cNvSpPr/>
          <p:nvPr/>
        </p:nvSpPr>
        <p:spPr>
          <a:xfrm>
            <a:off x="749880" y="50292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33"/>
          <p:cNvSpPr/>
          <p:nvPr/>
        </p:nvSpPr>
        <p:spPr>
          <a:xfrm>
            <a:off x="1188720" y="491040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32347"/>
                </a:solidFill>
                <a:latin typeface="Calibri"/>
                <a:ea typeface="Calibri"/>
              </a:rPr>
              <a:t>Classify + Debate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34"/>
          <p:cNvSpPr/>
          <p:nvPr/>
        </p:nvSpPr>
        <p:spPr>
          <a:xfrm>
            <a:off x="1188720" y="5212080"/>
            <a:ext cx="2377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9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9" name="Text 35"/>
          <p:cNvSpPr/>
          <p:nvPr/>
        </p:nvSpPr>
        <p:spPr>
          <a:xfrm>
            <a:off x="3154680" y="4892040"/>
            <a:ext cx="576036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d6884"/>
                </a:solidFill>
                <a:latin typeface="Calibri"/>
                <a:ea typeface="Calibri"/>
              </a:rPr>
              <a:t>Conflict is typed, then Propose → Critique → Revise runs up to 3 rounds and a Judge picks the stronger claim with a reason.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36"/>
          <p:cNvSpPr/>
          <p:nvPr/>
        </p:nvSpPr>
        <p:spPr>
          <a:xfrm>
            <a:off x="9052560" y="4992480"/>
            <a:ext cx="2468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c8761e"/>
                </a:solidFill>
                <a:latin typeface="Courier New"/>
                <a:ea typeface="Courier New"/>
              </a:rPr>
              <a:t>conflict/classifier.py  ·  debate/manager.py, judge.py</a:t>
            </a:r>
            <a:endParaRPr b="0" lang="en-IN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37"/>
          <p:cNvSpPr/>
          <p:nvPr/>
        </p:nvSpPr>
        <p:spPr>
          <a:xfrm>
            <a:off x="548640" y="5660280"/>
            <a:ext cx="11063880" cy="749520"/>
          </a:xfrm>
          <a:prstGeom prst="roundRect">
            <a:avLst>
              <a:gd name="adj" fmla="val 9756"/>
            </a:avLst>
          </a:prstGeom>
          <a:solidFill>
            <a:srgbClr val="f1f4fb"/>
          </a:solidFill>
          <a:ln w="12700">
            <a:solidFill>
              <a:srgbClr val="f1f4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38"/>
          <p:cNvSpPr/>
          <p:nvPr/>
        </p:nvSpPr>
        <p:spPr>
          <a:xfrm>
            <a:off x="749880" y="5879520"/>
            <a:ext cx="310680" cy="310680"/>
          </a:xfrm>
          <a:prstGeom prst="ellipse">
            <a:avLst/>
          </a:prstGeom>
          <a:solidFill>
            <a:srgbClr val="132347"/>
          </a:solidFill>
          <a:ln w="12700">
            <a:solidFill>
              <a:srgbClr val="1323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 39"/>
          <p:cNvSpPr/>
          <p:nvPr/>
        </p:nvSpPr>
        <p:spPr>
          <a:xfrm>
            <a:off x="749880" y="587952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40"/>
          <p:cNvSpPr/>
          <p:nvPr/>
        </p:nvSpPr>
        <p:spPr>
          <a:xfrm>
            <a:off x="1188720" y="576072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32347"/>
                </a:solidFill>
                <a:latin typeface="Calibri"/>
                <a:ea typeface="Calibri"/>
              </a:rPr>
              <a:t>Answer + Trace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41"/>
          <p:cNvSpPr/>
          <p:nvPr/>
        </p:nvSpPr>
        <p:spPr>
          <a:xfrm>
            <a:off x="1188720" y="6062400"/>
            <a:ext cx="2377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9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6" name="Text 42"/>
          <p:cNvSpPr/>
          <p:nvPr/>
        </p:nvSpPr>
        <p:spPr>
          <a:xfrm>
            <a:off x="3154680" y="5742360"/>
            <a:ext cx="576036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d6884"/>
                </a:solidFill>
                <a:latin typeface="Calibri"/>
                <a:ea typeface="Calibri"/>
              </a:rPr>
              <a:t>Four different answer shapes, one per state — never a fabricated resolution. Full JSON trace written to disk.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43"/>
          <p:cNvSpPr/>
          <p:nvPr/>
        </p:nvSpPr>
        <p:spPr>
          <a:xfrm>
            <a:off x="9052560" y="5843160"/>
            <a:ext cx="2468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c8761e"/>
                </a:solidFill>
                <a:latin typeface="Courier New"/>
                <a:ea typeface="Courier New"/>
              </a:rPr>
              <a:t>output/generator.py → AnswerGenerator.generate()</a:t>
            </a:r>
            <a:endParaRPr b="0" lang="en-IN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 0"/>
          <p:cNvSpPr/>
          <p:nvPr/>
        </p:nvSpPr>
        <p:spPr>
          <a:xfrm>
            <a:off x="548640" y="159480"/>
            <a:ext cx="11063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9" strike="noStrike">
                <a:solidFill>
                  <a:srgbClr val="c8761e"/>
                </a:solidFill>
                <a:latin typeface="Calibri"/>
                <a:ea typeface="Calibri"/>
              </a:rPr>
              <a:t>TECHNICAL ACCURACY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1"/>
          <p:cNvSpPr/>
          <p:nvPr/>
        </p:nvSpPr>
        <p:spPr>
          <a:xfrm>
            <a:off x="548640" y="567000"/>
            <a:ext cx="110638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32347"/>
                </a:solidFill>
                <a:latin typeface="Cambria"/>
                <a:ea typeface="Cambria"/>
              </a:rPr>
              <a:t>The evidence gate: how we decide that two claims conflict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2"/>
          <p:cNvSpPr/>
          <p:nvPr/>
        </p:nvSpPr>
        <p:spPr>
          <a:xfrm>
            <a:off x="548640" y="1325880"/>
            <a:ext cx="6491880" cy="2422800"/>
          </a:xfrm>
          <a:prstGeom prst="roundRect">
            <a:avLst>
              <a:gd name="adj" fmla="val 3019"/>
            </a:avLst>
          </a:prstGeom>
          <a:solidFill>
            <a:srgbClr val="0c1730"/>
          </a:solidFill>
          <a:ln w="12700">
            <a:solidFill>
              <a:srgbClr val="0c17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 3"/>
          <p:cNvSpPr/>
          <p:nvPr/>
        </p:nvSpPr>
        <p:spPr>
          <a:xfrm>
            <a:off x="822960" y="1481400"/>
            <a:ext cx="5943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bd9f2"/>
                </a:solidFill>
                <a:latin typeface="Calibri"/>
                <a:ea typeface="Calibri"/>
              </a:rPr>
              <a:t>Decision rule  —  EvidenceAggregator.decide()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4"/>
          <p:cNvSpPr/>
          <p:nvPr/>
        </p:nvSpPr>
        <p:spPr>
          <a:xfrm>
            <a:off x="822960" y="1783080"/>
            <a:ext cx="6034680" cy="178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usable = [a for a in agents if a.is_usable]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if len(usable) &lt;= 1              →  INSUFFICIENT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if ANY pair contradiction &gt;= 0.70 →  DISAGREEMENT   (gate opens)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elif ALL pairs entailment &gt;= 0.70 →  AGREEMENT      (debate skipped)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else                              →  UNCERTAIN      (report both)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5"/>
          <p:cNvSpPr/>
          <p:nvPr/>
        </p:nvSpPr>
        <p:spPr>
          <a:xfrm>
            <a:off x="548640" y="3886200"/>
            <a:ext cx="6491880" cy="2377080"/>
          </a:xfrm>
          <a:prstGeom prst="roundRect">
            <a:avLst>
              <a:gd name="adj" fmla="val 3077"/>
            </a:avLst>
          </a:prstGeom>
          <a:solidFill>
            <a:srgbClr val="f1f4fb"/>
          </a:solidFill>
          <a:ln w="12700">
            <a:solidFill>
              <a:srgbClr val="f1f4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6"/>
          <p:cNvSpPr/>
          <p:nvPr/>
        </p:nvSpPr>
        <p:spPr>
          <a:xfrm>
            <a:off x="822960" y="40690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32347"/>
                </a:solidFill>
                <a:latin typeface="Cambria"/>
                <a:ea typeface="Cambria"/>
              </a:rPr>
              <a:t>Why the rule is asymmetric</a:t>
            </a:r>
            <a:endParaRPr b="0" lang="en-IN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7"/>
          <p:cNvSpPr/>
          <p:nvPr/>
        </p:nvSpPr>
        <p:spPr>
          <a:xfrm>
            <a:off x="822960" y="4389120"/>
            <a:ext cx="598896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d6884"/>
                </a:solidFill>
                <a:latin typeface="Calibri"/>
                <a:ea typeface="Calibri"/>
              </a:rPr>
              <a:t>Disagreement needs only ONE contradicting pair — if Wikipedia says 1986 and the web says 2020, that conflict is real even if the third agent sides with one of them.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500"/>
              </a:lnSpc>
              <a:tabLst>
                <a:tab algn="l" pos="0"/>
              </a:tabLst>
            </a:pP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d6884"/>
                </a:solidFill>
                <a:latin typeface="Calibri"/>
                <a:ea typeface="Calibri"/>
              </a:rPr>
              <a:t>Agreement needs EVERY pair to entail. Two agents agreeing plus one neutral is UNCERTAIN, not agreement — the neutral agent may have found something the other two missed.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500"/>
              </a:lnSpc>
              <a:tabLst>
                <a:tab algn="l" pos="0"/>
              </a:tabLst>
            </a:pP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d6884"/>
                </a:solidFill>
                <a:latin typeface="Calibri"/>
                <a:ea typeface="Calibri"/>
              </a:rPr>
              <a:t>Net effect: the system is conservative. It would rather debate once too often than silently claim consensus.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Shape 8"/>
          <p:cNvSpPr/>
          <p:nvPr/>
        </p:nvSpPr>
        <p:spPr>
          <a:xfrm>
            <a:off x="7315200" y="1325880"/>
            <a:ext cx="4297320" cy="2422800"/>
          </a:xfrm>
          <a:prstGeom prst="roundRect">
            <a:avLst>
              <a:gd name="adj" fmla="val 3019"/>
            </a:avLst>
          </a:prstGeom>
          <a:solidFill>
            <a:srgbClr val="e7ecf7"/>
          </a:solidFill>
          <a:ln w="12700">
            <a:solidFill>
              <a:srgbClr val="e7ec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9"/>
          <p:cNvSpPr/>
          <p:nvPr/>
        </p:nvSpPr>
        <p:spPr>
          <a:xfrm>
            <a:off x="7589520" y="150876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32347"/>
                </a:solidFill>
                <a:latin typeface="Cambria"/>
                <a:ea typeface="Cambria"/>
              </a:rPr>
              <a:t>Why NLI, not cosine similarity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10"/>
          <p:cNvSpPr/>
          <p:nvPr/>
        </p:nvSpPr>
        <p:spPr>
          <a:xfrm>
            <a:off x="7589520" y="1828800"/>
            <a:ext cx="379440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d6884"/>
                </a:solidFill>
                <a:latin typeface="Calibri"/>
                <a:ea typeface="Calibri"/>
              </a:rPr>
              <a:t>Cosine similarity measures topic overlap. “introduced in 2020” and “introduced in 1986” are about the same topic and score high — yet they contradict.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500"/>
              </a:lnSpc>
              <a:tabLst>
                <a:tab algn="l" pos="0"/>
              </a:tabLst>
            </a:pP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d6884"/>
                </a:solidFill>
                <a:latin typeface="Calibri"/>
                <a:ea typeface="Calibri"/>
              </a:rPr>
              <a:t>NLI scores entailment vs contradiction vs neutral directly, which is the question we actually need answered.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11"/>
          <p:cNvSpPr/>
          <p:nvPr/>
        </p:nvSpPr>
        <p:spPr>
          <a:xfrm>
            <a:off x="7307640" y="4076280"/>
            <a:ext cx="4297320" cy="2377080"/>
          </a:xfrm>
          <a:prstGeom prst="roundRect">
            <a:avLst>
              <a:gd name="adj" fmla="val 3077"/>
            </a:avLst>
          </a:prstGeom>
          <a:solidFill>
            <a:srgbClr val="e7ecf7"/>
          </a:solidFill>
          <a:ln w="12700">
            <a:solidFill>
              <a:srgbClr val="e7ec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12"/>
          <p:cNvSpPr/>
          <p:nvPr/>
        </p:nvSpPr>
        <p:spPr>
          <a:xfrm>
            <a:off x="7589520" y="406908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32347"/>
                </a:solidFill>
                <a:latin typeface="Cambria"/>
                <a:ea typeface="Cambria"/>
              </a:rPr>
              <a:t>The NLI model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13"/>
          <p:cNvSpPr/>
          <p:nvPr/>
        </p:nvSpPr>
        <p:spPr>
          <a:xfrm>
            <a:off x="7589520" y="4389120"/>
            <a:ext cx="3794400" cy="178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b="0" lang="en-US" sz="1000" spc="-1" strike="noStrike">
                <a:solidFill>
                  <a:srgbClr val="c8761e"/>
                </a:solidFill>
                <a:latin typeface="Courier New"/>
                <a:ea typeface="Courier New"/>
              </a:rPr>
              <a:t>NLI_MODE=transformers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01"/>
              </a:lnSpc>
              <a:tabLst>
                <a:tab algn="l" pos="0"/>
              </a:tabLst>
            </a:pP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d6884"/>
                </a:solidFill>
                <a:latin typeface="Calibri"/>
                <a:ea typeface="Calibri"/>
              </a:rPr>
              <a:t>ynie/roberta-large-snli_mnli_fever_anli_R1_R2_R3-nli — RoBERTa-large tuned on 5 NLI corpora. Run in both directions; the stronger contradiction score wins, since NLI is not symmetric.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01"/>
              </a:lnSpc>
              <a:tabLst>
                <a:tab algn="l" pos="0"/>
              </a:tabLst>
            </a:pP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01"/>
              </a:lnSpc>
              <a:tabLst>
                <a:tab algn="l" pos="0"/>
              </a:tabLst>
            </a:pP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8761e"/>
                </a:solidFill>
                <a:latin typeface="Courier New"/>
                <a:ea typeface="Courier New"/>
              </a:rPr>
              <a:t>NLI_MODE=mock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01"/>
              </a:lnSpc>
              <a:tabLst>
                <a:tab algn="l" pos="0"/>
              </a:tabLst>
            </a:pP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d6884"/>
                </a:solidFill>
                <a:latin typeface="Calibri"/>
                <a:ea typeface="Calibri"/>
              </a:rPr>
              <a:t>Deterministic pattern rules (year, version, scope, negation). Offline and instant — used for the demo and tests.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14"/>
          <p:cNvSpPr/>
          <p:nvPr/>
        </p:nvSpPr>
        <p:spPr>
          <a:xfrm>
            <a:off x="548640" y="6544440"/>
            <a:ext cx="11063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c8761e"/>
                </a:solidFill>
                <a:latin typeface="Courier New"/>
                <a:ea typeface="Courier New"/>
              </a:rPr>
              <a:t>evidence/disagreement_detector.py → NLIDetector.predict(), MockNLIDetector._pattern_predict()   ·   thresholds in config.py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 0"/>
          <p:cNvSpPr/>
          <p:nvPr/>
        </p:nvSpPr>
        <p:spPr>
          <a:xfrm>
            <a:off x="548640" y="311040"/>
            <a:ext cx="11063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9" strike="noStrike">
                <a:solidFill>
                  <a:srgbClr val="c8761e"/>
                </a:solidFill>
                <a:latin typeface="Calibri"/>
                <a:ea typeface="Calibri"/>
              </a:rPr>
              <a:t>TECHNICAL ACCURACY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1"/>
          <p:cNvSpPr/>
          <p:nvPr/>
        </p:nvSpPr>
        <p:spPr>
          <a:xfrm>
            <a:off x="548640" y="567000"/>
            <a:ext cx="110638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32347"/>
                </a:solidFill>
                <a:latin typeface="Cambria"/>
                <a:ea typeface="Cambria"/>
              </a:rPr>
              <a:t>Typed conflicts, then a structured debate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Shape 2"/>
          <p:cNvSpPr/>
          <p:nvPr/>
        </p:nvSpPr>
        <p:spPr>
          <a:xfrm>
            <a:off x="548640" y="1325880"/>
            <a:ext cx="7634880" cy="502560"/>
          </a:xfrm>
          <a:prstGeom prst="roundRect">
            <a:avLst>
              <a:gd name="adj" fmla="val 14545"/>
            </a:avLst>
          </a:prstGeom>
          <a:solidFill>
            <a:srgbClr val="e7ecf7"/>
          </a:solidFill>
          <a:ln w="12700">
            <a:solidFill>
              <a:srgbClr val="e7ec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3"/>
          <p:cNvSpPr/>
          <p:nvPr/>
        </p:nvSpPr>
        <p:spPr>
          <a:xfrm>
            <a:off x="685800" y="1435680"/>
            <a:ext cx="1508400" cy="292320"/>
          </a:xfrm>
          <a:prstGeom prst="roundRect">
            <a:avLst>
              <a:gd name="adj" fmla="val 18750"/>
            </a:avLst>
          </a:prstGeom>
          <a:solidFill>
            <a:srgbClr val="a82c39"/>
          </a:solidFill>
          <a:ln w="12700">
            <a:solidFill>
              <a:srgbClr val="a82c3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 4"/>
          <p:cNvSpPr/>
          <p:nvPr/>
        </p:nvSpPr>
        <p:spPr>
          <a:xfrm>
            <a:off x="685800" y="1435680"/>
            <a:ext cx="15084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TEMPORAL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5"/>
          <p:cNvSpPr/>
          <p:nvPr/>
        </p:nvSpPr>
        <p:spPr>
          <a:xfrm>
            <a:off x="2377440" y="1444680"/>
            <a:ext cx="3017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32347"/>
                </a:solidFill>
                <a:latin typeface="Calibri"/>
                <a:ea typeface="Calibri"/>
              </a:rPr>
              <a:t>Different dates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6"/>
          <p:cNvSpPr/>
          <p:nvPr/>
        </p:nvSpPr>
        <p:spPr>
          <a:xfrm>
            <a:off x="5394960" y="144468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5d6884"/>
                </a:solidFill>
                <a:latin typeface="Calibri"/>
                <a:ea typeface="Calibri"/>
              </a:rPr>
              <a:t>NEP: 1986 vs 2020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Shape 7"/>
          <p:cNvSpPr/>
          <p:nvPr/>
        </p:nvSpPr>
        <p:spPr>
          <a:xfrm>
            <a:off x="548640" y="1901880"/>
            <a:ext cx="7634880" cy="502560"/>
          </a:xfrm>
          <a:prstGeom prst="roundRect">
            <a:avLst>
              <a:gd name="adj" fmla="val 14545"/>
            </a:avLst>
          </a:prstGeom>
          <a:solidFill>
            <a:srgbClr val="f1f4fb"/>
          </a:solidFill>
          <a:ln w="12700">
            <a:solidFill>
              <a:srgbClr val="f1f4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8"/>
          <p:cNvSpPr/>
          <p:nvPr/>
        </p:nvSpPr>
        <p:spPr>
          <a:xfrm>
            <a:off x="685800" y="2011680"/>
            <a:ext cx="1508400" cy="292320"/>
          </a:xfrm>
          <a:prstGeom prst="roundRect">
            <a:avLst>
              <a:gd name="adj" fmla="val 18750"/>
            </a:avLst>
          </a:prstGeom>
          <a:solidFill>
            <a:srgbClr val="c8761e"/>
          </a:solidFill>
          <a:ln w="12700">
            <a:solidFill>
              <a:srgbClr val="c876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 9"/>
          <p:cNvSpPr/>
          <p:nvPr/>
        </p:nvSpPr>
        <p:spPr>
          <a:xfrm>
            <a:off x="685800" y="2011680"/>
            <a:ext cx="15084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VERSION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10"/>
          <p:cNvSpPr/>
          <p:nvPr/>
        </p:nvSpPr>
        <p:spPr>
          <a:xfrm>
            <a:off x="2377440" y="2020680"/>
            <a:ext cx="3017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32347"/>
                </a:solidFill>
                <a:latin typeface="Calibri"/>
                <a:ea typeface="Calibri"/>
              </a:rPr>
              <a:t>Different releases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11"/>
          <p:cNvSpPr/>
          <p:nvPr/>
        </p:nvSpPr>
        <p:spPr>
          <a:xfrm>
            <a:off x="5394960" y="202068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5d6884"/>
                </a:solidFill>
                <a:latin typeface="Calibri"/>
                <a:ea typeface="Calibri"/>
              </a:rPr>
              <a:t>Python 3.13 vs 3.14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12"/>
          <p:cNvSpPr/>
          <p:nvPr/>
        </p:nvSpPr>
        <p:spPr>
          <a:xfrm>
            <a:off x="548640" y="2477880"/>
            <a:ext cx="7634880" cy="502560"/>
          </a:xfrm>
          <a:prstGeom prst="roundRect">
            <a:avLst>
              <a:gd name="adj" fmla="val 14545"/>
            </a:avLst>
          </a:prstGeom>
          <a:solidFill>
            <a:srgbClr val="e7ecf7"/>
          </a:solidFill>
          <a:ln w="12700">
            <a:solidFill>
              <a:srgbClr val="e7ec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13"/>
          <p:cNvSpPr/>
          <p:nvPr/>
        </p:nvSpPr>
        <p:spPr>
          <a:xfrm>
            <a:off x="685800" y="2587680"/>
            <a:ext cx="1508400" cy="292320"/>
          </a:xfrm>
          <a:prstGeom prst="roundRect">
            <a:avLst>
              <a:gd name="adj" fmla="val 18750"/>
            </a:avLst>
          </a:prstGeom>
          <a:solidFill>
            <a:srgbClr val="1c7f68"/>
          </a:solidFill>
          <a:ln w="12700">
            <a:solidFill>
              <a:srgbClr val="1c7f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Text 14"/>
          <p:cNvSpPr/>
          <p:nvPr/>
        </p:nvSpPr>
        <p:spPr>
          <a:xfrm>
            <a:off x="685800" y="2587680"/>
            <a:ext cx="15084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CONTEXTUAL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 15"/>
          <p:cNvSpPr/>
          <p:nvPr/>
        </p:nvSpPr>
        <p:spPr>
          <a:xfrm>
            <a:off x="2377440" y="2597040"/>
            <a:ext cx="3017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32347"/>
                </a:solidFill>
                <a:latin typeface="Calibri"/>
                <a:ea typeface="Calibri"/>
              </a:rPr>
              <a:t>Different populations / scopes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16"/>
          <p:cNvSpPr/>
          <p:nvPr/>
        </p:nvSpPr>
        <p:spPr>
          <a:xfrm>
            <a:off x="5394960" y="259704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5d6884"/>
                </a:solidFill>
                <a:latin typeface="Calibri"/>
                <a:ea typeface="Calibri"/>
              </a:rPr>
              <a:t>Aspirin: adults vs children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17"/>
          <p:cNvSpPr/>
          <p:nvPr/>
        </p:nvSpPr>
        <p:spPr>
          <a:xfrm>
            <a:off x="548640" y="3054240"/>
            <a:ext cx="7634880" cy="502560"/>
          </a:xfrm>
          <a:prstGeom prst="roundRect">
            <a:avLst>
              <a:gd name="adj" fmla="val 14545"/>
            </a:avLst>
          </a:prstGeom>
          <a:solidFill>
            <a:srgbClr val="f1f4fb"/>
          </a:solidFill>
          <a:ln w="12700">
            <a:solidFill>
              <a:srgbClr val="f1f4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Shape 18"/>
          <p:cNvSpPr/>
          <p:nvPr/>
        </p:nvSpPr>
        <p:spPr>
          <a:xfrm>
            <a:off x="685800" y="3163680"/>
            <a:ext cx="1508400" cy="292320"/>
          </a:xfrm>
          <a:prstGeom prst="roundRect">
            <a:avLst>
              <a:gd name="adj" fmla="val 18750"/>
            </a:avLst>
          </a:prstGeom>
          <a:solidFill>
            <a:srgbClr val="132347"/>
          </a:solidFill>
          <a:ln w="12700">
            <a:solidFill>
              <a:srgbClr val="1323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 19"/>
          <p:cNvSpPr/>
          <p:nvPr/>
        </p:nvSpPr>
        <p:spPr>
          <a:xfrm>
            <a:off x="685800" y="3163680"/>
            <a:ext cx="15084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SOURCE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20"/>
          <p:cNvSpPr/>
          <p:nvPr/>
        </p:nvSpPr>
        <p:spPr>
          <a:xfrm>
            <a:off x="2377440" y="3173040"/>
            <a:ext cx="3017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32347"/>
                </a:solidFill>
                <a:latin typeface="Calibri"/>
                <a:ea typeface="Calibri"/>
              </a:rPr>
              <a:t>Authority gap between sources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21"/>
          <p:cNvSpPr/>
          <p:nvPr/>
        </p:nvSpPr>
        <p:spPr>
          <a:xfrm>
            <a:off x="5394960" y="317304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5d6884"/>
                </a:solidFill>
                <a:latin typeface="Calibri"/>
                <a:ea typeface="Calibri"/>
              </a:rPr>
              <a:t>Peer review vs blog post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Shape 22"/>
          <p:cNvSpPr/>
          <p:nvPr/>
        </p:nvSpPr>
        <p:spPr>
          <a:xfrm>
            <a:off x="548640" y="3630240"/>
            <a:ext cx="7634880" cy="502560"/>
          </a:xfrm>
          <a:prstGeom prst="roundRect">
            <a:avLst>
              <a:gd name="adj" fmla="val 14545"/>
            </a:avLst>
          </a:prstGeom>
          <a:solidFill>
            <a:srgbClr val="e7ecf7"/>
          </a:solidFill>
          <a:ln w="12700">
            <a:solidFill>
              <a:srgbClr val="e7ec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hape 23"/>
          <p:cNvSpPr/>
          <p:nvPr/>
        </p:nvSpPr>
        <p:spPr>
          <a:xfrm>
            <a:off x="685800" y="3740040"/>
            <a:ext cx="1508400" cy="292320"/>
          </a:xfrm>
          <a:prstGeom prst="roundRect">
            <a:avLst>
              <a:gd name="adj" fmla="val 18750"/>
            </a:avLst>
          </a:prstGeom>
          <a:solidFill>
            <a:srgbClr val="5d6884"/>
          </a:solidFill>
          <a:ln w="12700">
            <a:solidFill>
              <a:srgbClr val="5d688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 24"/>
          <p:cNvSpPr/>
          <p:nvPr/>
        </p:nvSpPr>
        <p:spPr>
          <a:xfrm>
            <a:off x="685800" y="3740040"/>
            <a:ext cx="15084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FACTUAL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25"/>
          <p:cNvSpPr/>
          <p:nvPr/>
        </p:nvSpPr>
        <p:spPr>
          <a:xfrm>
            <a:off x="2377440" y="3749040"/>
            <a:ext cx="3017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32347"/>
                </a:solidFill>
                <a:latin typeface="Calibri"/>
                <a:ea typeface="Calibri"/>
              </a:rPr>
              <a:t>Directly incompatible facts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 26"/>
          <p:cNvSpPr/>
          <p:nvPr/>
        </p:nvSpPr>
        <p:spPr>
          <a:xfrm>
            <a:off x="5394960" y="374904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5d6884"/>
                </a:solidFill>
                <a:latin typeface="Calibri"/>
                <a:ea typeface="Calibri"/>
              </a:rPr>
              <a:t>Napoleon 5'2" vs 5'7"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27"/>
          <p:cNvSpPr/>
          <p:nvPr/>
        </p:nvSpPr>
        <p:spPr>
          <a:xfrm>
            <a:off x="548640" y="4279320"/>
            <a:ext cx="7634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d6884"/>
                </a:solidFill>
                <a:latin typeface="Calibri"/>
                <a:ea typeface="Calibri"/>
              </a:rPr>
              <a:t>Each type selects a different system prompt from CONFLICT_STRATEGIES — a temporal conflict asks which date the query wanted; a contextual one first checks whether both claims are true under different scopes.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28"/>
          <p:cNvSpPr/>
          <p:nvPr/>
        </p:nvSpPr>
        <p:spPr>
          <a:xfrm>
            <a:off x="548640" y="4846320"/>
            <a:ext cx="7634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c8761e"/>
                </a:solidFill>
                <a:latin typeface="Courier New"/>
                <a:ea typeface="Courier New"/>
              </a:rPr>
              <a:t>conflict/classifier.py → classify()   ·   debate/proposer.py → CONFLICT_STRATEGIES</a:t>
            </a:r>
            <a:endParaRPr b="0" lang="en-IN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29"/>
          <p:cNvSpPr/>
          <p:nvPr/>
        </p:nvSpPr>
        <p:spPr>
          <a:xfrm>
            <a:off x="548640" y="5193720"/>
            <a:ext cx="7634880" cy="1142640"/>
          </a:xfrm>
          <a:prstGeom prst="roundRect">
            <a:avLst>
              <a:gd name="adj" fmla="val 6400"/>
            </a:avLst>
          </a:prstGeom>
          <a:solidFill>
            <a:srgbClr val="132347"/>
          </a:solidFill>
          <a:ln w="12700">
            <a:solidFill>
              <a:srgbClr val="1323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Text 30"/>
          <p:cNvSpPr/>
          <p:nvPr/>
        </p:nvSpPr>
        <p:spPr>
          <a:xfrm>
            <a:off x="777240" y="5321880"/>
            <a:ext cx="1691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Propose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31"/>
          <p:cNvSpPr/>
          <p:nvPr/>
        </p:nvSpPr>
        <p:spPr>
          <a:xfrm>
            <a:off x="777240" y="5577840"/>
            <a:ext cx="1737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0b366"/>
                </a:solidFill>
                <a:latin typeface="Courier New"/>
                <a:ea typeface="Courier New"/>
              </a:rPr>
              <a:t>debate/proposer.py</a:t>
            </a:r>
            <a:endParaRPr b="0" lang="en-IN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32"/>
          <p:cNvSpPr/>
          <p:nvPr/>
        </p:nvSpPr>
        <p:spPr>
          <a:xfrm>
            <a:off x="2350080" y="530352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c8761e"/>
                </a:solidFill>
                <a:latin typeface="Calibri"/>
                <a:ea typeface="Calibri"/>
              </a:rPr>
              <a:t>→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33"/>
          <p:cNvSpPr/>
          <p:nvPr/>
        </p:nvSpPr>
        <p:spPr>
          <a:xfrm>
            <a:off x="2624400" y="5321880"/>
            <a:ext cx="1691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Critique ×2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34"/>
          <p:cNvSpPr/>
          <p:nvPr/>
        </p:nvSpPr>
        <p:spPr>
          <a:xfrm>
            <a:off x="2624400" y="5577840"/>
            <a:ext cx="1737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0b366"/>
                </a:solidFill>
                <a:latin typeface="Courier New"/>
                <a:ea typeface="Courier New"/>
              </a:rPr>
              <a:t>debate/critic.py</a:t>
            </a:r>
            <a:endParaRPr b="0" lang="en-IN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35"/>
          <p:cNvSpPr/>
          <p:nvPr/>
        </p:nvSpPr>
        <p:spPr>
          <a:xfrm>
            <a:off x="4197240" y="530352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c8761e"/>
                </a:solidFill>
                <a:latin typeface="Calibri"/>
                <a:ea typeface="Calibri"/>
              </a:rPr>
              <a:t>→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 36"/>
          <p:cNvSpPr/>
          <p:nvPr/>
        </p:nvSpPr>
        <p:spPr>
          <a:xfrm>
            <a:off x="4471560" y="5321880"/>
            <a:ext cx="1691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Revise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37"/>
          <p:cNvSpPr/>
          <p:nvPr/>
        </p:nvSpPr>
        <p:spPr>
          <a:xfrm>
            <a:off x="4471560" y="5577840"/>
            <a:ext cx="1737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0b366"/>
                </a:solidFill>
                <a:latin typeface="Courier New"/>
                <a:ea typeface="Courier New"/>
              </a:rPr>
              <a:t>debate/reviser.py</a:t>
            </a:r>
            <a:endParaRPr b="0" lang="en-IN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38"/>
          <p:cNvSpPr/>
          <p:nvPr/>
        </p:nvSpPr>
        <p:spPr>
          <a:xfrm>
            <a:off x="6044040" y="530352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c8761e"/>
                </a:solidFill>
                <a:latin typeface="Calibri"/>
                <a:ea typeface="Calibri"/>
              </a:rPr>
              <a:t>→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39"/>
          <p:cNvSpPr/>
          <p:nvPr/>
        </p:nvSpPr>
        <p:spPr>
          <a:xfrm>
            <a:off x="6318360" y="5321880"/>
            <a:ext cx="1691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Judge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40"/>
          <p:cNvSpPr/>
          <p:nvPr/>
        </p:nvSpPr>
        <p:spPr>
          <a:xfrm>
            <a:off x="6318360" y="5577840"/>
            <a:ext cx="1737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0b366"/>
                </a:solidFill>
                <a:latin typeface="Courier New"/>
                <a:ea typeface="Courier New"/>
              </a:rPr>
              <a:t>debate/judge.py</a:t>
            </a:r>
            <a:endParaRPr b="0" lang="en-IN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41"/>
          <p:cNvSpPr/>
          <p:nvPr/>
        </p:nvSpPr>
        <p:spPr>
          <a:xfrm>
            <a:off x="777240" y="5897880"/>
            <a:ext cx="7223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9f2"/>
                </a:solidFill>
                <a:latin typeface="Calibri"/>
                <a:ea typeface="Calibri"/>
              </a:rPr>
              <a:t>Max 3 rounds · stops early on converged (95% Jaccard vs previous revision), no_objection, or stage_failure — debate/manager.py → run_debate()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5" name="Image 0" descr="figs/conflict_distribution.png"/>
          <p:cNvPicPr/>
          <p:nvPr/>
        </p:nvPicPr>
        <p:blipFill>
          <a:blip r:embed="rId1"/>
          <a:stretch/>
        </p:blipFill>
        <p:spPr>
          <a:xfrm>
            <a:off x="8366760" y="1371600"/>
            <a:ext cx="3291480" cy="2468520"/>
          </a:xfrm>
          <a:prstGeom prst="rect">
            <a:avLst/>
          </a:prstGeom>
          <a:ln w="0">
            <a:noFill/>
          </a:ln>
        </p:spPr>
      </p:pic>
      <p:sp>
        <p:nvSpPr>
          <p:cNvPr id="156" name="Text 42"/>
          <p:cNvSpPr/>
          <p:nvPr/>
        </p:nvSpPr>
        <p:spPr>
          <a:xfrm>
            <a:off x="8458200" y="3886200"/>
            <a:ext cx="3154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d6884"/>
                </a:solidFill>
                <a:latin typeface="Calibri"/>
                <a:ea typeface="Calibri"/>
              </a:rPr>
              <a:t>Conflict mix in the evaluation run — the classifier is exercised across four of the five types, not one dominant case.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Shape 43"/>
          <p:cNvSpPr/>
          <p:nvPr/>
        </p:nvSpPr>
        <p:spPr>
          <a:xfrm>
            <a:off x="8366760" y="4709160"/>
            <a:ext cx="3245760" cy="1627200"/>
          </a:xfrm>
          <a:prstGeom prst="roundRect">
            <a:avLst>
              <a:gd name="adj" fmla="val 4494"/>
            </a:avLst>
          </a:prstGeom>
          <a:solidFill>
            <a:srgbClr val="f1f4fb"/>
          </a:solidFill>
          <a:ln w="12700">
            <a:solidFill>
              <a:srgbClr val="f1f4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44"/>
          <p:cNvSpPr/>
          <p:nvPr/>
        </p:nvSpPr>
        <p:spPr>
          <a:xfrm>
            <a:off x="8595360" y="4864680"/>
            <a:ext cx="2834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32347"/>
                </a:solidFill>
                <a:latin typeface="Calibri"/>
                <a:ea typeface="Calibri"/>
              </a:rPr>
              <a:t>If the judge fails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45"/>
          <p:cNvSpPr/>
          <p:nvPr/>
        </p:nvSpPr>
        <p:spPr>
          <a:xfrm>
            <a:off x="8595360" y="5139000"/>
            <a:ext cx="28342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d6884"/>
                </a:solidFill>
                <a:latin typeface="Calibri"/>
                <a:ea typeface="Calibri"/>
              </a:rPr>
              <a:t>The answer states “conflict unresolved, consult sources”. The system never invents a resolution it did not reach.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 0"/>
          <p:cNvSpPr/>
          <p:nvPr/>
        </p:nvSpPr>
        <p:spPr>
          <a:xfrm>
            <a:off x="548640" y="311040"/>
            <a:ext cx="11063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9" strike="noStrike">
                <a:solidFill>
                  <a:srgbClr val="c8761e"/>
                </a:solidFill>
                <a:latin typeface="Calibri"/>
                <a:ea typeface="Calibri"/>
              </a:rPr>
              <a:t>IMPLEMENTATION STATUS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1"/>
          <p:cNvSpPr/>
          <p:nvPr/>
        </p:nvSpPr>
        <p:spPr>
          <a:xfrm>
            <a:off x="548640" y="567000"/>
            <a:ext cx="110638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32347"/>
                </a:solidFill>
                <a:latin typeface="Cambria"/>
                <a:ea typeface="Cambria"/>
              </a:rPr>
              <a:t>What is built, and how each piece is proven to matter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Shape 2"/>
          <p:cNvSpPr/>
          <p:nvPr/>
        </p:nvSpPr>
        <p:spPr>
          <a:xfrm>
            <a:off x="548640" y="1325880"/>
            <a:ext cx="2057040" cy="959760"/>
          </a:xfrm>
          <a:prstGeom prst="roundRect">
            <a:avLst>
              <a:gd name="adj" fmla="val 7619"/>
            </a:avLst>
          </a:prstGeom>
          <a:solidFill>
            <a:srgbClr val="e7ecf7"/>
          </a:solidFill>
          <a:ln w="12700">
            <a:solidFill>
              <a:srgbClr val="e7ec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3"/>
          <p:cNvSpPr/>
          <p:nvPr/>
        </p:nvSpPr>
        <p:spPr>
          <a:xfrm>
            <a:off x="685800" y="1417320"/>
            <a:ext cx="1782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c7f68"/>
                </a:solidFill>
                <a:latin typeface="Cambria"/>
                <a:ea typeface="Cambria"/>
              </a:rPr>
              <a:t>78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4"/>
          <p:cNvSpPr/>
          <p:nvPr/>
        </p:nvSpPr>
        <p:spPr>
          <a:xfrm>
            <a:off x="704160" y="193860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d6884"/>
                </a:solidFill>
                <a:latin typeface="Calibri"/>
                <a:ea typeface="Calibri"/>
              </a:rPr>
              <a:t>tests passing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5"/>
          <p:cNvSpPr/>
          <p:nvPr/>
        </p:nvSpPr>
        <p:spPr>
          <a:xfrm>
            <a:off x="2788920" y="1325880"/>
            <a:ext cx="2057040" cy="959760"/>
          </a:xfrm>
          <a:prstGeom prst="roundRect">
            <a:avLst>
              <a:gd name="adj" fmla="val 7619"/>
            </a:avLst>
          </a:prstGeom>
          <a:solidFill>
            <a:srgbClr val="e7ecf7"/>
          </a:solidFill>
          <a:ln w="12700">
            <a:solidFill>
              <a:srgbClr val="e7ec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6"/>
          <p:cNvSpPr/>
          <p:nvPr/>
        </p:nvSpPr>
        <p:spPr>
          <a:xfrm>
            <a:off x="2926080" y="1417320"/>
            <a:ext cx="1782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32347"/>
                </a:solidFill>
                <a:latin typeface="Cambria"/>
                <a:ea typeface="Cambria"/>
              </a:rPr>
              <a:t>3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7"/>
          <p:cNvSpPr/>
          <p:nvPr/>
        </p:nvSpPr>
        <p:spPr>
          <a:xfrm>
            <a:off x="2944440" y="193860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d6884"/>
                </a:solidFill>
                <a:latin typeface="Calibri"/>
                <a:ea typeface="Calibri"/>
              </a:rPr>
              <a:t>retrieval agents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Shape 8"/>
          <p:cNvSpPr/>
          <p:nvPr/>
        </p:nvSpPr>
        <p:spPr>
          <a:xfrm>
            <a:off x="5029200" y="1325880"/>
            <a:ext cx="2057040" cy="959760"/>
          </a:xfrm>
          <a:prstGeom prst="roundRect">
            <a:avLst>
              <a:gd name="adj" fmla="val 7619"/>
            </a:avLst>
          </a:prstGeom>
          <a:solidFill>
            <a:srgbClr val="e7ecf7"/>
          </a:solidFill>
          <a:ln w="12700">
            <a:solidFill>
              <a:srgbClr val="e7ec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9"/>
          <p:cNvSpPr/>
          <p:nvPr/>
        </p:nvSpPr>
        <p:spPr>
          <a:xfrm>
            <a:off x="5166360" y="1417320"/>
            <a:ext cx="1782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c8761e"/>
                </a:solidFill>
                <a:latin typeface="Cambria"/>
                <a:ea typeface="Cambria"/>
              </a:rPr>
              <a:t>6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10"/>
          <p:cNvSpPr/>
          <p:nvPr/>
        </p:nvSpPr>
        <p:spPr>
          <a:xfrm>
            <a:off x="5184720" y="193860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d6884"/>
                </a:solidFill>
                <a:latin typeface="Calibri"/>
                <a:ea typeface="Calibri"/>
              </a:rPr>
              <a:t>systems compared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11"/>
          <p:cNvSpPr/>
          <p:nvPr/>
        </p:nvSpPr>
        <p:spPr>
          <a:xfrm>
            <a:off x="7269480" y="1325880"/>
            <a:ext cx="2057040" cy="959760"/>
          </a:xfrm>
          <a:prstGeom prst="roundRect">
            <a:avLst>
              <a:gd name="adj" fmla="val 7619"/>
            </a:avLst>
          </a:prstGeom>
          <a:solidFill>
            <a:srgbClr val="e7ecf7"/>
          </a:solidFill>
          <a:ln w="12700">
            <a:solidFill>
              <a:srgbClr val="e7ec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12"/>
          <p:cNvSpPr/>
          <p:nvPr/>
        </p:nvSpPr>
        <p:spPr>
          <a:xfrm>
            <a:off x="7406640" y="1417320"/>
            <a:ext cx="1782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a82c39"/>
                </a:solidFill>
                <a:latin typeface="Cambria"/>
                <a:ea typeface="Cambria"/>
              </a:rPr>
              <a:t>5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13"/>
          <p:cNvSpPr/>
          <p:nvPr/>
        </p:nvSpPr>
        <p:spPr>
          <a:xfrm>
            <a:off x="7425000" y="193860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d6884"/>
                </a:solidFill>
                <a:latin typeface="Calibri"/>
                <a:ea typeface="Calibri"/>
              </a:rPr>
              <a:t>conflict types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14"/>
          <p:cNvSpPr/>
          <p:nvPr/>
        </p:nvSpPr>
        <p:spPr>
          <a:xfrm>
            <a:off x="9509760" y="1325880"/>
            <a:ext cx="2057040" cy="959760"/>
          </a:xfrm>
          <a:prstGeom prst="roundRect">
            <a:avLst>
              <a:gd name="adj" fmla="val 7619"/>
            </a:avLst>
          </a:prstGeom>
          <a:solidFill>
            <a:srgbClr val="e7ecf7"/>
          </a:solidFill>
          <a:ln w="12700">
            <a:solidFill>
              <a:srgbClr val="e7ec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15"/>
          <p:cNvSpPr/>
          <p:nvPr/>
        </p:nvSpPr>
        <p:spPr>
          <a:xfrm>
            <a:off x="9646920" y="1417320"/>
            <a:ext cx="1782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5d6884"/>
                </a:solidFill>
                <a:latin typeface="Cambria"/>
                <a:ea typeface="Cambria"/>
              </a:rPr>
              <a:t>19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16"/>
          <p:cNvSpPr/>
          <p:nvPr/>
        </p:nvSpPr>
        <p:spPr>
          <a:xfrm>
            <a:off x="9665280" y="193860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d6884"/>
                </a:solidFill>
                <a:latin typeface="Calibri"/>
                <a:ea typeface="Calibri"/>
              </a:rPr>
              <a:t>metrics computed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 17"/>
          <p:cNvSpPr/>
          <p:nvPr/>
        </p:nvSpPr>
        <p:spPr>
          <a:xfrm>
            <a:off x="548640" y="2487240"/>
            <a:ext cx="6949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32347"/>
                </a:solidFill>
                <a:latin typeface="Cambria"/>
                <a:ea typeface="Cambria"/>
              </a:rPr>
              <a:t>Ablation matrix — one feature removed per row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78" name="Table 0"/>
          <p:cNvGraphicFramePr/>
          <p:nvPr/>
        </p:nvGraphicFramePr>
        <p:xfrm>
          <a:off x="548640" y="2853000"/>
          <a:ext cx="6949080" cy="2175840"/>
        </p:xfrm>
        <a:graphic>
          <a:graphicData uri="http://schemas.openxmlformats.org/drawingml/2006/table">
            <a:tbl>
              <a:tblPr/>
              <a:tblGrid>
                <a:gridCol w="2834640"/>
                <a:gridCol w="1097280"/>
                <a:gridCol w="1554480"/>
                <a:gridCol w="1463040"/>
              </a:tblGrid>
              <a:tr h="3106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132347"/>
                          </a:solidFill>
                          <a:latin typeface="Calibri"/>
                          <a:ea typeface="Calibri"/>
                        </a:rPr>
                        <a:t>System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3daea"/>
                      </a:solidFill>
                      <a:prstDash val="solid"/>
                    </a:lnL>
                    <a:lnR w="12240">
                      <a:solidFill>
                        <a:srgbClr val="d3daea"/>
                      </a:solidFill>
                      <a:prstDash val="solid"/>
                    </a:lnR>
                    <a:lnT w="12240">
                      <a:solidFill>
                        <a:srgbClr val="d3daea"/>
                      </a:solidFill>
                      <a:prstDash val="solid"/>
                    </a:lnT>
                    <a:lnB w="12240">
                      <a:solidFill>
                        <a:srgbClr val="d3da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132347"/>
                          </a:solidFill>
                          <a:latin typeface="Calibri"/>
                          <a:ea typeface="Calibri"/>
                        </a:rPr>
                        <a:t>Gate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3daea"/>
                      </a:solidFill>
                      <a:prstDash val="solid"/>
                    </a:lnL>
                    <a:lnR w="12240">
                      <a:solidFill>
                        <a:srgbClr val="d3daea"/>
                      </a:solidFill>
                      <a:prstDash val="solid"/>
                    </a:lnR>
                    <a:lnT w="12240">
                      <a:solidFill>
                        <a:srgbClr val="d3daea"/>
                      </a:solidFill>
                      <a:prstDash val="solid"/>
                    </a:lnT>
                    <a:lnB w="12240">
                      <a:solidFill>
                        <a:srgbClr val="d3da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132347"/>
                          </a:solidFill>
                          <a:latin typeface="Calibri"/>
                          <a:ea typeface="Calibri"/>
                        </a:rPr>
                        <a:t>Typed strategy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3daea"/>
                      </a:solidFill>
                      <a:prstDash val="solid"/>
                    </a:lnL>
                    <a:lnR w="12240">
                      <a:solidFill>
                        <a:srgbClr val="d3daea"/>
                      </a:solidFill>
                      <a:prstDash val="solid"/>
                    </a:lnR>
                    <a:lnT w="12240">
                      <a:solidFill>
                        <a:srgbClr val="d3daea"/>
                      </a:solidFill>
                      <a:prstDash val="solid"/>
                    </a:lnT>
                    <a:lnB w="12240">
                      <a:solidFill>
                        <a:srgbClr val="d3da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132347"/>
                          </a:solidFill>
                          <a:latin typeface="Calibri"/>
                          <a:ea typeface="Calibri"/>
                        </a:rPr>
                        <a:t>Relevance filter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3daea"/>
                      </a:solidFill>
                      <a:prstDash val="solid"/>
                    </a:lnL>
                    <a:lnR w="12240">
                      <a:solidFill>
                        <a:srgbClr val="d3daea"/>
                      </a:solidFill>
                      <a:prstDash val="solid"/>
                    </a:lnR>
                    <a:lnT w="12240">
                      <a:solidFill>
                        <a:srgbClr val="d3daea"/>
                      </a:solidFill>
                      <a:prstDash val="solid"/>
                    </a:lnT>
                    <a:lnB w="12240">
                      <a:solidFill>
                        <a:srgbClr val="d3da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32347"/>
                          </a:solidFill>
                          <a:latin typeface="Calibri"/>
                          <a:ea typeface="Calibri"/>
                        </a:rPr>
                        <a:t>Single LLM  (baseline)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3daea"/>
                      </a:solidFill>
                      <a:prstDash val="solid"/>
                    </a:lnL>
                    <a:lnR w="12240">
                      <a:solidFill>
                        <a:srgbClr val="d3daea"/>
                      </a:solidFill>
                      <a:prstDash val="solid"/>
                    </a:lnR>
                    <a:lnT w="12240">
                      <a:solidFill>
                        <a:srgbClr val="d3daea"/>
                      </a:solidFill>
                      <a:prstDash val="solid"/>
                    </a:lnT>
                    <a:lnB w="12240">
                      <a:solidFill>
                        <a:srgbClr val="d3da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32347"/>
                          </a:solidFill>
                          <a:latin typeface="Calibri"/>
                          <a:ea typeface="Calibri"/>
                        </a:rPr>
                        <a:t>✗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3daea"/>
                      </a:solidFill>
                      <a:prstDash val="solid"/>
                    </a:lnL>
                    <a:lnR w="12240">
                      <a:solidFill>
                        <a:srgbClr val="d3daea"/>
                      </a:solidFill>
                      <a:prstDash val="solid"/>
                    </a:lnR>
                    <a:lnT w="12240">
                      <a:solidFill>
                        <a:srgbClr val="d3daea"/>
                      </a:solidFill>
                      <a:prstDash val="solid"/>
                    </a:lnT>
                    <a:lnB w="12240">
                      <a:solidFill>
                        <a:srgbClr val="d3da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32347"/>
                          </a:solidFill>
                          <a:latin typeface="Calibri"/>
                          <a:ea typeface="Calibri"/>
                        </a:rPr>
                        <a:t>✗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3daea"/>
                      </a:solidFill>
                      <a:prstDash val="solid"/>
                    </a:lnL>
                    <a:lnR w="12240">
                      <a:solidFill>
                        <a:srgbClr val="d3daea"/>
                      </a:solidFill>
                      <a:prstDash val="solid"/>
                    </a:lnR>
                    <a:lnT w="12240">
                      <a:solidFill>
                        <a:srgbClr val="d3daea"/>
                      </a:solidFill>
                      <a:prstDash val="solid"/>
                    </a:lnT>
                    <a:lnB w="12240">
                      <a:solidFill>
                        <a:srgbClr val="d3da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32347"/>
                          </a:solidFill>
                          <a:latin typeface="Calibri"/>
                          <a:ea typeface="Calibri"/>
                        </a:rPr>
                        <a:t>✗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3daea"/>
                      </a:solidFill>
                      <a:prstDash val="solid"/>
                    </a:lnL>
                    <a:lnR w="12240">
                      <a:solidFill>
                        <a:srgbClr val="d3daea"/>
                      </a:solidFill>
                      <a:prstDash val="solid"/>
                    </a:lnR>
                    <a:lnT w="12240">
                      <a:solidFill>
                        <a:srgbClr val="d3daea"/>
                      </a:solidFill>
                      <a:prstDash val="solid"/>
                    </a:lnT>
                    <a:lnB w="12240">
                      <a:solidFill>
                        <a:srgbClr val="d3da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32347"/>
                          </a:solidFill>
                          <a:latin typeface="Calibri"/>
                          <a:ea typeface="Calibri"/>
                        </a:rPr>
                        <a:t>Standard MAD  (prior work)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3daea"/>
                      </a:solidFill>
                      <a:prstDash val="solid"/>
                    </a:lnL>
                    <a:lnR w="12240">
                      <a:solidFill>
                        <a:srgbClr val="d3daea"/>
                      </a:solidFill>
                      <a:prstDash val="solid"/>
                    </a:lnR>
                    <a:lnT w="12240">
                      <a:solidFill>
                        <a:srgbClr val="d3daea"/>
                      </a:solidFill>
                      <a:prstDash val="solid"/>
                    </a:lnT>
                    <a:lnB w="12240">
                      <a:solidFill>
                        <a:srgbClr val="d3da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32347"/>
                          </a:solidFill>
                          <a:latin typeface="Calibri"/>
                          <a:ea typeface="Calibri"/>
                        </a:rPr>
                        <a:t>✗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3daea"/>
                      </a:solidFill>
                      <a:prstDash val="solid"/>
                    </a:lnL>
                    <a:lnR w="12240">
                      <a:solidFill>
                        <a:srgbClr val="d3daea"/>
                      </a:solidFill>
                      <a:prstDash val="solid"/>
                    </a:lnR>
                    <a:lnT w="12240">
                      <a:solidFill>
                        <a:srgbClr val="d3daea"/>
                      </a:solidFill>
                      <a:prstDash val="solid"/>
                    </a:lnT>
                    <a:lnB w="12240">
                      <a:solidFill>
                        <a:srgbClr val="d3da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32347"/>
                          </a:solidFill>
                          <a:latin typeface="Calibri"/>
                          <a:ea typeface="Calibri"/>
                        </a:rPr>
                        <a:t>✗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3daea"/>
                      </a:solidFill>
                      <a:prstDash val="solid"/>
                    </a:lnL>
                    <a:lnR w="12240">
                      <a:solidFill>
                        <a:srgbClr val="d3daea"/>
                      </a:solidFill>
                      <a:prstDash val="solid"/>
                    </a:lnR>
                    <a:lnT w="12240">
                      <a:solidFill>
                        <a:srgbClr val="d3daea"/>
                      </a:solidFill>
                      <a:prstDash val="solid"/>
                    </a:lnT>
                    <a:lnB w="12240">
                      <a:solidFill>
                        <a:srgbClr val="d3da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32347"/>
                          </a:solidFill>
                          <a:latin typeface="Calibri"/>
                          <a:ea typeface="Calibri"/>
                        </a:rPr>
                        <a:t>✓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3daea"/>
                      </a:solidFill>
                      <a:prstDash val="solid"/>
                    </a:lnL>
                    <a:lnR w="12240">
                      <a:solidFill>
                        <a:srgbClr val="d3daea"/>
                      </a:solidFill>
                      <a:prstDash val="solid"/>
                    </a:lnR>
                    <a:lnT w="12240">
                      <a:solidFill>
                        <a:srgbClr val="d3daea"/>
                      </a:solidFill>
                      <a:prstDash val="solid"/>
                    </a:lnT>
                    <a:lnB w="12240">
                      <a:solidFill>
                        <a:srgbClr val="d3da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32347"/>
                          </a:solidFill>
                          <a:latin typeface="Calibri"/>
                          <a:ea typeface="Calibri"/>
                        </a:rPr>
                        <a:t>Proposed MAD  (ours)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3daea"/>
                      </a:solidFill>
                      <a:prstDash val="solid"/>
                    </a:lnL>
                    <a:lnR w="12240">
                      <a:solidFill>
                        <a:srgbClr val="d3daea"/>
                      </a:solidFill>
                      <a:prstDash val="solid"/>
                    </a:lnR>
                    <a:lnT w="12240">
                      <a:solidFill>
                        <a:srgbClr val="d3daea"/>
                      </a:solidFill>
                      <a:prstDash val="solid"/>
                    </a:lnT>
                    <a:lnB w="12240">
                      <a:solidFill>
                        <a:srgbClr val="d3da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32347"/>
                          </a:solidFill>
                          <a:latin typeface="Calibri"/>
                          <a:ea typeface="Calibri"/>
                        </a:rPr>
                        <a:t>✓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3daea"/>
                      </a:solidFill>
                      <a:prstDash val="solid"/>
                    </a:lnL>
                    <a:lnR w="12240">
                      <a:solidFill>
                        <a:srgbClr val="d3daea"/>
                      </a:solidFill>
                      <a:prstDash val="solid"/>
                    </a:lnR>
                    <a:lnT w="12240">
                      <a:solidFill>
                        <a:srgbClr val="d3daea"/>
                      </a:solidFill>
                      <a:prstDash val="solid"/>
                    </a:lnT>
                    <a:lnB w="12240">
                      <a:solidFill>
                        <a:srgbClr val="d3da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32347"/>
                          </a:solidFill>
                          <a:latin typeface="Calibri"/>
                          <a:ea typeface="Calibri"/>
                        </a:rPr>
                        <a:t>✓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3daea"/>
                      </a:solidFill>
                      <a:prstDash val="solid"/>
                    </a:lnL>
                    <a:lnR w="12240">
                      <a:solidFill>
                        <a:srgbClr val="d3daea"/>
                      </a:solidFill>
                      <a:prstDash val="solid"/>
                    </a:lnR>
                    <a:lnT w="12240">
                      <a:solidFill>
                        <a:srgbClr val="d3daea"/>
                      </a:solidFill>
                      <a:prstDash val="solid"/>
                    </a:lnT>
                    <a:lnB w="12240">
                      <a:solidFill>
                        <a:srgbClr val="d3da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32347"/>
                          </a:solidFill>
                          <a:latin typeface="Calibri"/>
                          <a:ea typeface="Calibri"/>
                        </a:rPr>
                        <a:t>✓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3daea"/>
                      </a:solidFill>
                      <a:prstDash val="solid"/>
                    </a:lnL>
                    <a:lnR w="12240">
                      <a:solidFill>
                        <a:srgbClr val="d3daea"/>
                      </a:solidFill>
                      <a:prstDash val="solid"/>
                    </a:lnR>
                    <a:lnT w="12240">
                      <a:solidFill>
                        <a:srgbClr val="d3daea"/>
                      </a:solidFill>
                      <a:prstDash val="solid"/>
                    </a:lnT>
                    <a:lnB w="12240">
                      <a:solidFill>
                        <a:srgbClr val="d3da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32347"/>
                          </a:solidFill>
                          <a:latin typeface="Calibri"/>
                          <a:ea typeface="Calibri"/>
                        </a:rPr>
                        <a:t>No Gate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3daea"/>
                      </a:solidFill>
                      <a:prstDash val="solid"/>
                    </a:lnL>
                    <a:lnR w="12240">
                      <a:solidFill>
                        <a:srgbClr val="d3daea"/>
                      </a:solidFill>
                      <a:prstDash val="solid"/>
                    </a:lnR>
                    <a:lnT w="12240">
                      <a:solidFill>
                        <a:srgbClr val="d3daea"/>
                      </a:solidFill>
                      <a:prstDash val="solid"/>
                    </a:lnT>
                    <a:lnB w="12240">
                      <a:solidFill>
                        <a:srgbClr val="d3da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32347"/>
                          </a:solidFill>
                          <a:latin typeface="Calibri"/>
                          <a:ea typeface="Calibri"/>
                        </a:rPr>
                        <a:t>✗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3daea"/>
                      </a:solidFill>
                      <a:prstDash val="solid"/>
                    </a:lnL>
                    <a:lnR w="12240">
                      <a:solidFill>
                        <a:srgbClr val="d3daea"/>
                      </a:solidFill>
                      <a:prstDash val="solid"/>
                    </a:lnR>
                    <a:lnT w="12240">
                      <a:solidFill>
                        <a:srgbClr val="d3daea"/>
                      </a:solidFill>
                      <a:prstDash val="solid"/>
                    </a:lnT>
                    <a:lnB w="12240">
                      <a:solidFill>
                        <a:srgbClr val="d3da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32347"/>
                          </a:solidFill>
                          <a:latin typeface="Calibri"/>
                          <a:ea typeface="Calibri"/>
                        </a:rPr>
                        <a:t>✓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3daea"/>
                      </a:solidFill>
                      <a:prstDash val="solid"/>
                    </a:lnL>
                    <a:lnR w="12240">
                      <a:solidFill>
                        <a:srgbClr val="d3daea"/>
                      </a:solidFill>
                      <a:prstDash val="solid"/>
                    </a:lnR>
                    <a:lnT w="12240">
                      <a:solidFill>
                        <a:srgbClr val="d3daea"/>
                      </a:solidFill>
                      <a:prstDash val="solid"/>
                    </a:lnT>
                    <a:lnB w="12240">
                      <a:solidFill>
                        <a:srgbClr val="d3da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32347"/>
                          </a:solidFill>
                          <a:latin typeface="Calibri"/>
                          <a:ea typeface="Calibri"/>
                        </a:rPr>
                        <a:t>✓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3daea"/>
                      </a:solidFill>
                      <a:prstDash val="solid"/>
                    </a:lnL>
                    <a:lnR w="12240">
                      <a:solidFill>
                        <a:srgbClr val="d3daea"/>
                      </a:solidFill>
                      <a:prstDash val="solid"/>
                    </a:lnR>
                    <a:lnT w="12240">
                      <a:solidFill>
                        <a:srgbClr val="d3daea"/>
                      </a:solidFill>
                      <a:prstDash val="solid"/>
                    </a:lnT>
                    <a:lnB w="12240">
                      <a:solidFill>
                        <a:srgbClr val="d3da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32347"/>
                          </a:solidFill>
                          <a:latin typeface="Calibri"/>
                          <a:ea typeface="Calibri"/>
                        </a:rPr>
                        <a:t>No Typed Strategy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3daea"/>
                      </a:solidFill>
                      <a:prstDash val="solid"/>
                    </a:lnL>
                    <a:lnR w="12240">
                      <a:solidFill>
                        <a:srgbClr val="d3daea"/>
                      </a:solidFill>
                      <a:prstDash val="solid"/>
                    </a:lnR>
                    <a:lnT w="12240">
                      <a:solidFill>
                        <a:srgbClr val="d3daea"/>
                      </a:solidFill>
                      <a:prstDash val="solid"/>
                    </a:lnT>
                    <a:lnB w="12240">
                      <a:solidFill>
                        <a:srgbClr val="d3da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32347"/>
                          </a:solidFill>
                          <a:latin typeface="Calibri"/>
                          <a:ea typeface="Calibri"/>
                        </a:rPr>
                        <a:t>✓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3daea"/>
                      </a:solidFill>
                      <a:prstDash val="solid"/>
                    </a:lnL>
                    <a:lnR w="12240">
                      <a:solidFill>
                        <a:srgbClr val="d3daea"/>
                      </a:solidFill>
                      <a:prstDash val="solid"/>
                    </a:lnR>
                    <a:lnT w="12240">
                      <a:solidFill>
                        <a:srgbClr val="d3daea"/>
                      </a:solidFill>
                      <a:prstDash val="solid"/>
                    </a:lnT>
                    <a:lnB w="12240">
                      <a:solidFill>
                        <a:srgbClr val="d3da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32347"/>
                          </a:solidFill>
                          <a:latin typeface="Calibri"/>
                          <a:ea typeface="Calibri"/>
                        </a:rPr>
                        <a:t>✗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3daea"/>
                      </a:solidFill>
                      <a:prstDash val="solid"/>
                    </a:lnL>
                    <a:lnR w="12240">
                      <a:solidFill>
                        <a:srgbClr val="d3daea"/>
                      </a:solidFill>
                      <a:prstDash val="solid"/>
                    </a:lnR>
                    <a:lnT w="12240">
                      <a:solidFill>
                        <a:srgbClr val="d3daea"/>
                      </a:solidFill>
                      <a:prstDash val="solid"/>
                    </a:lnT>
                    <a:lnB w="12240">
                      <a:solidFill>
                        <a:srgbClr val="d3da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32347"/>
                          </a:solidFill>
                          <a:latin typeface="Calibri"/>
                          <a:ea typeface="Calibri"/>
                        </a:rPr>
                        <a:t>✓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3daea"/>
                      </a:solidFill>
                      <a:prstDash val="solid"/>
                    </a:lnL>
                    <a:lnR w="12240">
                      <a:solidFill>
                        <a:srgbClr val="d3daea"/>
                      </a:solidFill>
                      <a:prstDash val="solid"/>
                    </a:lnR>
                    <a:lnT w="12240">
                      <a:solidFill>
                        <a:srgbClr val="d3daea"/>
                      </a:solidFill>
                      <a:prstDash val="solid"/>
                    </a:lnT>
                    <a:lnB w="12240">
                      <a:solidFill>
                        <a:srgbClr val="d3da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32347"/>
                          </a:solidFill>
                          <a:latin typeface="Calibri"/>
                          <a:ea typeface="Calibri"/>
                        </a:rPr>
                        <a:t>No Relevance Filter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3daea"/>
                      </a:solidFill>
                      <a:prstDash val="solid"/>
                    </a:lnL>
                    <a:lnR w="12240">
                      <a:solidFill>
                        <a:srgbClr val="d3daea"/>
                      </a:solidFill>
                      <a:prstDash val="solid"/>
                    </a:lnR>
                    <a:lnT w="12240">
                      <a:solidFill>
                        <a:srgbClr val="d3daea"/>
                      </a:solidFill>
                      <a:prstDash val="solid"/>
                    </a:lnT>
                    <a:lnB w="12240">
                      <a:solidFill>
                        <a:srgbClr val="d3da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32347"/>
                          </a:solidFill>
                          <a:latin typeface="Calibri"/>
                          <a:ea typeface="Calibri"/>
                        </a:rPr>
                        <a:t>✓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3daea"/>
                      </a:solidFill>
                      <a:prstDash val="solid"/>
                    </a:lnL>
                    <a:lnR w="12240">
                      <a:solidFill>
                        <a:srgbClr val="d3daea"/>
                      </a:solidFill>
                      <a:prstDash val="solid"/>
                    </a:lnR>
                    <a:lnT w="12240">
                      <a:solidFill>
                        <a:srgbClr val="d3daea"/>
                      </a:solidFill>
                      <a:prstDash val="solid"/>
                    </a:lnT>
                    <a:lnB w="12240">
                      <a:solidFill>
                        <a:srgbClr val="d3da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32347"/>
                          </a:solidFill>
                          <a:latin typeface="Calibri"/>
                          <a:ea typeface="Calibri"/>
                        </a:rPr>
                        <a:t>✓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3daea"/>
                      </a:solidFill>
                      <a:prstDash val="solid"/>
                    </a:lnL>
                    <a:lnR w="12240">
                      <a:solidFill>
                        <a:srgbClr val="d3daea"/>
                      </a:solidFill>
                      <a:prstDash val="solid"/>
                    </a:lnR>
                    <a:lnT w="12240">
                      <a:solidFill>
                        <a:srgbClr val="d3daea"/>
                      </a:solidFill>
                      <a:prstDash val="solid"/>
                    </a:lnT>
                    <a:lnB w="12240">
                      <a:solidFill>
                        <a:srgbClr val="d3da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32347"/>
                          </a:solidFill>
                          <a:latin typeface="Calibri"/>
                          <a:ea typeface="Calibri"/>
                        </a:rPr>
                        <a:t>✗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3daea"/>
                      </a:solidFill>
                      <a:prstDash val="solid"/>
                    </a:lnL>
                    <a:lnR w="12240">
                      <a:solidFill>
                        <a:srgbClr val="d3daea"/>
                      </a:solidFill>
                      <a:prstDash val="solid"/>
                    </a:lnR>
                    <a:lnT w="12240">
                      <a:solidFill>
                        <a:srgbClr val="d3daea"/>
                      </a:solidFill>
                      <a:prstDash val="solid"/>
                    </a:lnT>
                    <a:lnB w="12240">
                      <a:solidFill>
                        <a:srgbClr val="d3da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9" name="Text 18"/>
          <p:cNvSpPr/>
          <p:nvPr/>
        </p:nvSpPr>
        <p:spPr>
          <a:xfrm>
            <a:off x="548640" y="5120640"/>
            <a:ext cx="6949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c8761e"/>
                </a:solidFill>
                <a:latin typeface="Courier New"/>
                <a:ea typeface="Courier New"/>
              </a:rPr>
              <a:t>evaluation/systems/ → single_llm.py, standard_mad.py, proposed_mad.py (hosts all three ablations)</a:t>
            </a:r>
            <a:endParaRPr b="0" lang="en-IN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19"/>
          <p:cNvSpPr/>
          <p:nvPr/>
        </p:nvSpPr>
        <p:spPr>
          <a:xfrm>
            <a:off x="548640" y="5394960"/>
            <a:ext cx="69490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d6884"/>
                </a:solidFill>
                <a:latin typeface="Calibri"/>
                <a:ea typeface="Calibri"/>
              </a:rPr>
              <a:t>Reading it: if Proposed MAD beats No Gate, the gain came from the gate. If it beats No Typed Strategy, the typed prompts are earning their place. One row per claim we make.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20"/>
          <p:cNvSpPr/>
          <p:nvPr/>
        </p:nvSpPr>
        <p:spPr>
          <a:xfrm>
            <a:off x="7628400" y="2579040"/>
            <a:ext cx="3840120" cy="2011320"/>
          </a:xfrm>
          <a:prstGeom prst="roundRect">
            <a:avLst>
              <a:gd name="adj" fmla="val 3636"/>
            </a:avLst>
          </a:prstGeom>
          <a:solidFill>
            <a:srgbClr val="132347"/>
          </a:solidFill>
          <a:ln w="12700">
            <a:solidFill>
              <a:srgbClr val="1323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Text 21"/>
          <p:cNvSpPr/>
          <p:nvPr/>
        </p:nvSpPr>
        <p:spPr>
          <a:xfrm>
            <a:off x="8001000" y="2560320"/>
            <a:ext cx="3382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Two run modes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22"/>
          <p:cNvSpPr/>
          <p:nvPr/>
        </p:nvSpPr>
        <p:spPr>
          <a:xfrm>
            <a:off x="8001000" y="2889360"/>
            <a:ext cx="3428640" cy="148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b="0" lang="en-US" sz="1000" spc="-1" strike="noStrike">
                <a:solidFill>
                  <a:srgbClr val="f0b366"/>
                </a:solidFill>
                <a:latin typeface="Courier New"/>
                <a:ea typeface="Courier New"/>
              </a:rPr>
              <a:t>python3 app.py --demo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01"/>
              </a:lnSpc>
              <a:tabLst>
                <a:tab algn="l" pos="0"/>
              </a:tabLst>
            </a:pP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9f2"/>
                </a:solidFill>
                <a:latin typeface="Calibri"/>
                <a:ea typeface="Calibri"/>
              </a:rPr>
              <a:t>FIXTURE — 10 curated cases from data/fixtures.json. No network, no keys, identical output every run.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01"/>
              </a:lnSpc>
              <a:tabLst>
                <a:tab algn="l" pos="0"/>
              </a:tabLst>
            </a:pP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01"/>
              </a:lnSpc>
              <a:tabLst>
                <a:tab algn="l" pos="0"/>
              </a:tabLst>
            </a:pP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0b366"/>
                </a:solidFill>
                <a:latin typeface="Courier New"/>
                <a:ea typeface="Courier New"/>
              </a:rPr>
              <a:t>python3 app.py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01"/>
              </a:lnSpc>
              <a:tabLst>
                <a:tab algn="l" pos="0"/>
              </a:tabLst>
            </a:pP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9f2"/>
                </a:solidFill>
                <a:latin typeface="Calibri"/>
                <a:ea typeface="Calibri"/>
              </a:rPr>
              <a:t>LIVE — real retrieval and real LLM calls via llm_client.py.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23"/>
          <p:cNvSpPr/>
          <p:nvPr/>
        </p:nvSpPr>
        <p:spPr>
          <a:xfrm>
            <a:off x="7886160" y="4696560"/>
            <a:ext cx="3840120" cy="1599840"/>
          </a:xfrm>
          <a:prstGeom prst="roundRect">
            <a:avLst>
              <a:gd name="adj" fmla="val 4571"/>
            </a:avLst>
          </a:prstGeom>
          <a:solidFill>
            <a:srgbClr val="f1f4fb"/>
          </a:solidFill>
          <a:ln w="12700">
            <a:solidFill>
              <a:srgbClr val="f1f4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24"/>
          <p:cNvSpPr/>
          <p:nvPr/>
        </p:nvSpPr>
        <p:spPr>
          <a:xfrm>
            <a:off x="8001000" y="4754880"/>
            <a:ext cx="3382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32347"/>
                </a:solidFill>
                <a:latin typeface="Calibri"/>
                <a:ea typeface="Calibri"/>
              </a:rPr>
              <a:t>Failures are recorded, not hidden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25"/>
          <p:cNvSpPr/>
          <p:nvPr/>
        </p:nvSpPr>
        <p:spPr>
          <a:xfrm>
            <a:off x="8001000" y="5029200"/>
            <a:ext cx="34286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d6884"/>
                </a:solidFill>
                <a:latin typeface="Calibri"/>
                <a:ea typeface="Calibri"/>
              </a:rPr>
              <a:t>Agent timeout → RETRIEVAL_FAILED, other agents continue. Classifier LLM fails → pattern fallback tagged FALLBACK. Debate stage fails → stage_failure, judge skipped. Every LLM call is labelled by role in llm_client.call_report().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ext 0"/>
          <p:cNvSpPr/>
          <p:nvPr/>
        </p:nvSpPr>
        <p:spPr>
          <a:xfrm>
            <a:off x="548640" y="311040"/>
            <a:ext cx="11063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9" strike="noStrike">
                <a:solidFill>
                  <a:srgbClr val="c8761e"/>
                </a:solidFill>
                <a:latin typeface="Calibri"/>
                <a:ea typeface="Calibri"/>
              </a:rPr>
              <a:t>RESULTS SO FAR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 1"/>
          <p:cNvSpPr/>
          <p:nvPr/>
        </p:nvSpPr>
        <p:spPr>
          <a:xfrm>
            <a:off x="548640" y="567000"/>
            <a:ext cx="110638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32347"/>
                </a:solidFill>
                <a:latin typeface="Cambria"/>
                <a:ea typeface="Cambria"/>
              </a:rPr>
              <a:t>Accuracy against a baseline, and selectivity of the gate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9" name="Image 0" descr="figs/key_fact_accuracy.png"/>
          <p:cNvPicPr/>
          <p:nvPr/>
        </p:nvPicPr>
        <p:blipFill>
          <a:blip r:embed="rId1"/>
          <a:stretch/>
        </p:blipFill>
        <p:spPr>
          <a:xfrm>
            <a:off x="548640" y="1280160"/>
            <a:ext cx="5440320" cy="3026160"/>
          </a:xfrm>
          <a:prstGeom prst="rect">
            <a:avLst/>
          </a:prstGeom>
          <a:ln w="0">
            <a:noFill/>
          </a:ln>
        </p:spPr>
      </p:pic>
      <p:pic>
        <p:nvPicPr>
          <p:cNvPr id="190" name="Image 1" descr="figs/debate_trigger_rate.png"/>
          <p:cNvPicPr/>
          <p:nvPr/>
        </p:nvPicPr>
        <p:blipFill>
          <a:blip r:embed="rId2"/>
          <a:stretch/>
        </p:blipFill>
        <p:spPr>
          <a:xfrm>
            <a:off x="6172200" y="1280160"/>
            <a:ext cx="5440320" cy="3026160"/>
          </a:xfrm>
          <a:prstGeom prst="rect">
            <a:avLst/>
          </a:prstGeom>
          <a:ln w="0">
            <a:noFill/>
          </a:ln>
        </p:spPr>
      </p:pic>
      <p:sp>
        <p:nvSpPr>
          <p:cNvPr id="191" name="Shape 2"/>
          <p:cNvSpPr/>
          <p:nvPr/>
        </p:nvSpPr>
        <p:spPr>
          <a:xfrm>
            <a:off x="548640" y="4434840"/>
            <a:ext cx="5440320" cy="1828440"/>
          </a:xfrm>
          <a:prstGeom prst="roundRect">
            <a:avLst>
              <a:gd name="adj" fmla="val 4000"/>
            </a:avLst>
          </a:prstGeom>
          <a:solidFill>
            <a:srgbClr val="f1f4fb"/>
          </a:solidFill>
          <a:ln w="12700">
            <a:solidFill>
              <a:srgbClr val="f1f4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 3"/>
          <p:cNvSpPr/>
          <p:nvPr/>
        </p:nvSpPr>
        <p:spPr>
          <a:xfrm>
            <a:off x="777240" y="4572000"/>
            <a:ext cx="4937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32347"/>
                </a:solidFill>
                <a:latin typeface="Calibri"/>
                <a:ea typeface="Calibri"/>
              </a:rPr>
              <a:t>Key-fact accuracy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4"/>
          <p:cNvSpPr/>
          <p:nvPr/>
        </p:nvSpPr>
        <p:spPr>
          <a:xfrm>
            <a:off x="777240" y="4846320"/>
            <a:ext cx="498312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d6884"/>
                </a:solidFill>
                <a:latin typeface="Calibri"/>
                <a:ea typeface="Calibri"/>
              </a:rPr>
              <a:t>Strict metric: the answer must contain every required fact and no forbidden fact — a verbose near-miss scores zero. Retrieval-backed systems reach 100% against 33.3% for the no-retrieval baseline, which is the evidence that grounding the answer in agent-retrieved sources is doing real work.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5"/>
          <p:cNvSpPr/>
          <p:nvPr/>
        </p:nvSpPr>
        <p:spPr>
          <a:xfrm>
            <a:off x="6172200" y="4434840"/>
            <a:ext cx="5440320" cy="1828440"/>
          </a:xfrm>
          <a:prstGeom prst="roundRect">
            <a:avLst>
              <a:gd name="adj" fmla="val 4000"/>
            </a:avLst>
          </a:prstGeom>
          <a:solidFill>
            <a:srgbClr val="f1f4fb"/>
          </a:solidFill>
          <a:ln w="12700">
            <a:solidFill>
              <a:srgbClr val="f1f4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6"/>
          <p:cNvSpPr/>
          <p:nvPr/>
        </p:nvSpPr>
        <p:spPr>
          <a:xfrm>
            <a:off x="6400800" y="4572000"/>
            <a:ext cx="4937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32347"/>
                </a:solidFill>
                <a:latin typeface="Calibri"/>
                <a:ea typeface="Calibri"/>
              </a:rPr>
              <a:t>Debate trigger rate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7"/>
          <p:cNvSpPr/>
          <p:nvPr/>
        </p:nvSpPr>
        <p:spPr>
          <a:xfrm>
            <a:off x="6400800" y="4846320"/>
            <a:ext cx="498312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d6884"/>
                </a:solidFill>
                <a:latin typeface="Calibri"/>
                <a:ea typeface="Calibri"/>
              </a:rPr>
              <a:t>Standard MAD and No Gate debate on 6.7% of queries; Proposed MAD debates on 0% of this set — the gate found no contradiction worth paying for. Same accuracy, fewer debates. This is the efficiency claim stated in one chart.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8"/>
          <p:cNvSpPr/>
          <p:nvPr/>
        </p:nvSpPr>
        <p:spPr>
          <a:xfrm>
            <a:off x="548640" y="6382440"/>
            <a:ext cx="11063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c8761e"/>
                </a:solidFill>
                <a:latin typeface="Courier New"/>
                <a:ea typeface="Courier New"/>
              </a:rPr>
              <a:t>Generated by: python3 -m evaluation.run_experiments --demo   →   figures/   ·   metrics in evaluation/metrics.py → MetricsCalculator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Text 0"/>
          <p:cNvSpPr/>
          <p:nvPr/>
        </p:nvSpPr>
        <p:spPr>
          <a:xfrm>
            <a:off x="548640" y="311040"/>
            <a:ext cx="11063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9" strike="noStrike">
                <a:solidFill>
                  <a:srgbClr val="c8761e"/>
                </a:solidFill>
                <a:latin typeface="Calibri"/>
                <a:ea typeface="Calibri"/>
              </a:rPr>
              <a:t>RESULTS SO FAR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1"/>
          <p:cNvSpPr/>
          <p:nvPr/>
        </p:nvSpPr>
        <p:spPr>
          <a:xfrm>
            <a:off x="548640" y="567000"/>
            <a:ext cx="110638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32347"/>
                </a:solidFill>
                <a:latin typeface="Cambria"/>
                <a:ea typeface="Cambria"/>
              </a:rPr>
              <a:t>Cost, latency, and an honest reading of the error rate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0" name="Image 0" descr="figs/llm_calls_ok.png"/>
          <p:cNvPicPr/>
          <p:nvPr/>
        </p:nvPicPr>
        <p:blipFill>
          <a:blip r:embed="rId1"/>
          <a:stretch/>
        </p:blipFill>
        <p:spPr>
          <a:xfrm>
            <a:off x="548640" y="1280160"/>
            <a:ext cx="3565800" cy="1983960"/>
          </a:xfrm>
          <a:prstGeom prst="rect">
            <a:avLst/>
          </a:prstGeom>
          <a:ln w="0">
            <a:noFill/>
          </a:ln>
        </p:spPr>
      </p:pic>
      <p:sp>
        <p:nvSpPr>
          <p:cNvPr id="201" name="Text 2"/>
          <p:cNvSpPr/>
          <p:nvPr/>
        </p:nvSpPr>
        <p:spPr>
          <a:xfrm>
            <a:off x="548640" y="3337560"/>
            <a:ext cx="3565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32347"/>
                </a:solidFill>
                <a:latin typeface="Calibri"/>
                <a:ea typeface="Calibri"/>
              </a:rPr>
              <a:t>LLM calls per query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 3"/>
          <p:cNvSpPr/>
          <p:nvPr/>
        </p:nvSpPr>
        <p:spPr>
          <a:xfrm>
            <a:off x="548640" y="3611880"/>
            <a:ext cx="356580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d6884"/>
                </a:solidFill>
                <a:latin typeface="Calibri"/>
                <a:ea typeface="Calibri"/>
              </a:rPr>
              <a:t>Single LLM spends 1 call. The MAD systems show 0 here because the fixture run answers from stored evidence, so no live LLM is invoked — cost comparison moves to the LIVE run.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3" name="Image 1" descr="figs/latency_p50.png"/>
          <p:cNvPicPr/>
          <p:nvPr/>
        </p:nvPicPr>
        <p:blipFill>
          <a:blip r:embed="rId2"/>
          <a:stretch/>
        </p:blipFill>
        <p:spPr>
          <a:xfrm>
            <a:off x="4297680" y="1280160"/>
            <a:ext cx="3565800" cy="1983960"/>
          </a:xfrm>
          <a:prstGeom prst="rect">
            <a:avLst/>
          </a:prstGeom>
          <a:ln w="0">
            <a:noFill/>
          </a:ln>
        </p:spPr>
      </p:pic>
      <p:sp>
        <p:nvSpPr>
          <p:cNvPr id="204" name="Text 4"/>
          <p:cNvSpPr/>
          <p:nvPr/>
        </p:nvSpPr>
        <p:spPr>
          <a:xfrm>
            <a:off x="4297680" y="3337560"/>
            <a:ext cx="3565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32347"/>
                </a:solidFill>
                <a:latin typeface="Calibri"/>
                <a:ea typeface="Calibri"/>
              </a:rPr>
              <a:t>Median latency (p50)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 5"/>
          <p:cNvSpPr/>
          <p:nvPr/>
        </p:nvSpPr>
        <p:spPr>
          <a:xfrm>
            <a:off x="4297680" y="3611880"/>
            <a:ext cx="356580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d6884"/>
                </a:solidFill>
                <a:latin typeface="Calibri"/>
                <a:ea typeface="Calibri"/>
              </a:rPr>
              <a:t>Whole scale is sub-millisecond, so this measures orchestration overhead only. Standard MAD is the slowest because it debates unconditionally; Proposed MAD sits below it.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6" name="Image 2" descr="figs/error_rates.png"/>
          <p:cNvPicPr/>
          <p:nvPr/>
        </p:nvPicPr>
        <p:blipFill>
          <a:blip r:embed="rId3"/>
          <a:stretch/>
        </p:blipFill>
        <p:spPr>
          <a:xfrm>
            <a:off x="8046720" y="1280160"/>
            <a:ext cx="3565800" cy="1983960"/>
          </a:xfrm>
          <a:prstGeom prst="rect">
            <a:avLst/>
          </a:prstGeom>
          <a:ln w="0">
            <a:noFill/>
          </a:ln>
        </p:spPr>
      </p:pic>
      <p:sp>
        <p:nvSpPr>
          <p:cNvPr id="207" name="Text 6"/>
          <p:cNvSpPr/>
          <p:nvPr/>
        </p:nvSpPr>
        <p:spPr>
          <a:xfrm>
            <a:off x="8046720" y="3337560"/>
            <a:ext cx="3565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32347"/>
                </a:solidFill>
                <a:latin typeface="Calibri"/>
                <a:ea typeface="Calibri"/>
              </a:rPr>
              <a:t>Error rate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 7"/>
          <p:cNvSpPr/>
          <p:nvPr/>
        </p:nvSpPr>
        <p:spPr>
          <a:xfrm>
            <a:off x="8046720" y="3611880"/>
            <a:ext cx="356580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d6884"/>
                </a:solidFill>
                <a:latin typeface="Calibri"/>
                <a:ea typeface="Calibri"/>
              </a:rPr>
              <a:t>93.3% is a fixture-coverage gap, not a crash: the evaluation set holds 15 queries and data/fixtures.json currently holds 10 curated cases, so unmatched queries raise FixtureNotFoundError by design.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8"/>
          <p:cNvSpPr/>
          <p:nvPr/>
        </p:nvSpPr>
        <p:spPr>
          <a:xfrm>
            <a:off x="548640" y="4956120"/>
            <a:ext cx="5531760" cy="1416960"/>
          </a:xfrm>
          <a:prstGeom prst="roundRect">
            <a:avLst>
              <a:gd name="adj" fmla="val 5161"/>
            </a:avLst>
          </a:prstGeom>
          <a:solidFill>
            <a:srgbClr val="132347"/>
          </a:solidFill>
          <a:ln w="12700">
            <a:solidFill>
              <a:srgbClr val="1323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Text 10"/>
          <p:cNvSpPr/>
          <p:nvPr/>
        </p:nvSpPr>
        <p:spPr>
          <a:xfrm>
            <a:off x="822960" y="5376600"/>
            <a:ext cx="50288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bd9f2"/>
                </a:solidFill>
                <a:latin typeface="Calibri"/>
                <a:ea typeface="Calibri"/>
              </a:rPr>
              <a:t>Full pipeline runs end to end, 78 tests green, six systems wired into one harness, and every number traceable to a results/trace_&lt;id&gt;.json file. Nothing in this deck is hardcoded.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Shape 11"/>
          <p:cNvSpPr/>
          <p:nvPr/>
        </p:nvSpPr>
        <p:spPr>
          <a:xfrm>
            <a:off x="6263640" y="4956120"/>
            <a:ext cx="5348880" cy="1416960"/>
          </a:xfrm>
          <a:prstGeom prst="roundRect">
            <a:avLst>
              <a:gd name="adj" fmla="val 5161"/>
            </a:avLst>
          </a:prstGeom>
          <a:solidFill>
            <a:srgbClr val="f1f4fb"/>
          </a:solidFill>
          <a:ln w="12700">
            <a:solidFill>
              <a:srgbClr val="f1f4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13"/>
          <p:cNvSpPr/>
          <p:nvPr/>
        </p:nvSpPr>
        <p:spPr>
          <a:xfrm>
            <a:off x="6537960" y="5376600"/>
            <a:ext cx="48459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d6884"/>
                </a:solidFill>
                <a:latin typeface="Calibri"/>
                <a:ea typeface="Calibri"/>
              </a:rPr>
              <a:t>Extend fixtures to the full 15-query set, rerun in LIVE mode with NLI_MODE=transformers for real cost and latency, and add per-conflict-type accuracy plus debate early-stop rate to evaluation/metrics.py.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2026-09-16T06:48:53Z</dcterms:created>
  <dc:creator>Team Evidence-MAD</dc:creator>
  <dc:description/>
  <dc:language>en-IN</dc:language>
  <cp:lastModifiedBy/>
  <dcterms:modified xsi:type="dcterms:W3CDTF">2026-09-16T12:25:51Z</dcterms:modified>
  <cp:revision>2</cp:revision>
  <dc:subject>PptxGenJS Presentation</dc:subject>
  <dc:title>Multi-Agent Debate Framework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On-screen Show (16:9)</vt:lpwstr>
  </property>
  <property fmtid="{D5CDD505-2E9C-101B-9397-08002B2CF9AE}" pid="4" name="Slides">
    <vt:i4>8</vt:i4>
  </property>
</Properties>
</file>