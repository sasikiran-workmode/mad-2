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5623522-49D4-45EF-9555-DC3AD245E53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F53544-FED0-464F-B2EB-44C3486101D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58A6FD-B0DD-4B8F-9E2A-3D7E8C3FF28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D1ED397-7F6E-4C97-A8BB-D01AB29301B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F7434EE-043A-4F60-AE3B-DE8DB0FF3A5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12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648760" y="1595880"/>
            <a:ext cx="308412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0F585-FF86-4D4E-BA9F-7F69A8E7F49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DE74178-6BB0-4518-BFF0-22EA7DAD137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CD53BF8-8091-40DD-B14E-3AE04B378885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044AD5D-52A3-410C-B737-956E70654DD7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5DED039-4C9F-4C9F-ADF6-DF4B6A96E679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E9962E6-6222-491F-8A6C-9493208A4AAF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E7BEF3-35DE-4E0D-BB15-08E175150A52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72194CB2-669F-45EA-90D3-B67B4B7B482C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80E32A5-8A31-4A17-8EFB-7F640FCED256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D33992D-EED9-4CA1-A821-7C445CE2B8FF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12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648760" y="1595880"/>
            <a:ext cx="308412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A836235-FF03-4A13-8C40-1A06C6824AE6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7DC7AA9-C64A-4BB6-9861-CB5099B2FE09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A66A752-E596-4AF8-A626-6970058E3D9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786AEE3-CCA7-4F24-BE5D-5D4A09FE4D39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C1B35E3-D51D-4D03-96EF-718E1D49914E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568BF32-435C-466C-87F3-5CFDFDD7863E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97B26B00-1739-4837-AA1C-CB71D9166DE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0FDC9E-239B-436D-80E1-5DD9171925E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9AF764-254F-4B8B-9CDE-66858BE68200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283E0D-5AEB-454D-85E3-E25FF37E4981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A1A72A-75B4-4F75-B04D-78D768C9333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nth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2CC44B-408F-45E4-8CEB-945214598F11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2410200" y="1595880"/>
            <a:ext cx="30837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urt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tlin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648760" y="1595880"/>
            <a:ext cx="30837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ec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utl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C3A4C3-AF1E-46FC-BC51-C101DCD23A4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AC7E08-516B-48DE-B455-FE7342AC314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8FBA7F-9CD6-482E-B64E-41BD23B5835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46E0B4-7420-4053-8D0C-21DF4EBBE12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6;p9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5F1924-C3D0-4BF0-978D-1F7E5A89C67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897E0B-47F4-45A0-A340-5E5A5FD9D81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52;p14"/>
          <p:cNvCxnSpPr/>
          <p:nvPr/>
        </p:nvCxnSpPr>
        <p:spPr>
          <a:xfrm>
            <a:off x="2477520" y="415440"/>
            <a:ext cx="6245640" cy="144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28" name="Google Shape;53;p14"/>
          <p:cNvCxnSpPr/>
          <p:nvPr/>
        </p:nvCxnSpPr>
        <p:spPr>
          <a:xfrm>
            <a:off x="2477520" y="4739760"/>
            <a:ext cx="6245640" cy="14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29" name="Google Shape;54;p14"/>
          <p:cNvCxnSpPr/>
          <p:nvPr/>
        </p:nvCxnSpPr>
        <p:spPr>
          <a:xfrm>
            <a:off x="425160" y="415440"/>
            <a:ext cx="184680" cy="14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Cli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ck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edi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titl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tex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for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ma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2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B37901-0F1C-40D6-AD26-CB2CA7402081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outline </a:t>
            </a: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Secon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d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Outline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ffffff"/>
                </a:solidFill>
                <a:latin typeface="Arial"/>
              </a:rPr>
              <a:t>Third </a:t>
            </a:r>
            <a:r>
              <a:rPr b="0" lang="en-IN" sz="2400" spc="-1" strike="noStrike">
                <a:solidFill>
                  <a:srgbClr val="ffffff"/>
                </a:solidFill>
                <a:latin typeface="Arial"/>
              </a:rPr>
              <a:t>Outli</a:t>
            </a:r>
            <a:r>
              <a:rPr b="0" lang="en-IN" sz="2400" spc="-1" strike="noStrike">
                <a:solidFill>
                  <a:srgbClr val="ffffff"/>
                </a:solidFill>
                <a:latin typeface="Arial"/>
              </a:rPr>
              <a:t>ne </a:t>
            </a:r>
            <a:r>
              <a:rPr b="0" lang="en-IN" sz="24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IN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Fo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urt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h 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utli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ne 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x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104;p23"/>
          <p:cNvCxnSpPr/>
          <p:nvPr/>
        </p:nvCxnSpPr>
        <p:spPr>
          <a:xfrm>
            <a:off x="425160" y="415440"/>
            <a:ext cx="184680" cy="14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36" name="PlaceHolder 1"/>
          <p:cNvSpPr>
            <a:spLocks noGrp="1"/>
          </p:cNvSpPr>
          <p:nvPr>
            <p:ph type="sldNum" idx="13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32B26F-95C1-48E0-B935-D55260531D73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108;p24"/>
          <p:cNvCxnSpPr/>
          <p:nvPr/>
        </p:nvCxnSpPr>
        <p:spPr>
          <a:xfrm>
            <a:off x="425160" y="4739760"/>
            <a:ext cx="8298000" cy="144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38" name="Google Shape;109;p24"/>
          <p:cNvCxnSpPr/>
          <p:nvPr/>
        </p:nvCxnSpPr>
        <p:spPr>
          <a:xfrm>
            <a:off x="425160" y="415440"/>
            <a:ext cx="184680" cy="144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39" name="PlaceHolder 1"/>
          <p:cNvSpPr>
            <a:spLocks noGrp="1"/>
          </p:cNvSpPr>
          <p:nvPr>
            <p:ph type="sldNum" idx="14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E825F0-136E-4D7C-A51E-17C1A6D6F37C}" type="slidenum">
              <a:rPr b="0" lang="en-GB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59;p15"/>
          <p:cNvSpPr/>
          <p:nvPr/>
        </p:nvSpPr>
        <p:spPr>
          <a:xfrm>
            <a:off x="4572000" y="0"/>
            <a:ext cx="4570560" cy="51422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" name="Google Shape;60;p15"/>
          <p:cNvCxnSpPr/>
          <p:nvPr/>
        </p:nvCxnSpPr>
        <p:spPr>
          <a:xfrm>
            <a:off x="5029560" y="4495320"/>
            <a:ext cx="469800" cy="14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42" name="PlaceHolder 1"/>
          <p:cNvSpPr>
            <a:spLocks noGrp="1"/>
          </p:cNvSpPr>
          <p:nvPr>
            <p:ph type="sldNum" idx="15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9CFCB7-3152-4E91-882C-694E518DCDFE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outl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ine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tli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65;p16"/>
          <p:cNvCxnSpPr/>
          <p:nvPr/>
        </p:nvCxnSpPr>
        <p:spPr>
          <a:xfrm>
            <a:off x="2477520" y="415440"/>
            <a:ext cx="6245640" cy="144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46" name="Google Shape;66;p16"/>
          <p:cNvCxnSpPr/>
          <p:nvPr/>
        </p:nvCxnSpPr>
        <p:spPr>
          <a:xfrm>
            <a:off x="2477520" y="4739760"/>
            <a:ext cx="6245640" cy="144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47" name="Google Shape;67;p16"/>
          <p:cNvCxnSpPr/>
          <p:nvPr/>
        </p:nvCxnSpPr>
        <p:spPr>
          <a:xfrm>
            <a:off x="425160" y="415440"/>
            <a:ext cx="184680" cy="144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410200" y="1595880"/>
            <a:ext cx="30837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urt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tlin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648760" y="1595880"/>
            <a:ext cx="30837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ond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16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E13A5D-1A8B-415A-BCFC-1C291E10756D}" type="slidenum">
              <a:rPr b="0" lang="en-GB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73;p17"/>
          <p:cNvCxnSpPr/>
          <p:nvPr/>
        </p:nvCxnSpPr>
        <p:spPr>
          <a:xfrm>
            <a:off x="2477520" y="415440"/>
            <a:ext cx="6245640" cy="144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56" name="Google Shape;74;p17"/>
          <p:cNvCxnSpPr/>
          <p:nvPr/>
        </p:nvCxnSpPr>
        <p:spPr>
          <a:xfrm>
            <a:off x="2477520" y="4739760"/>
            <a:ext cx="6245640" cy="144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57" name="Google Shape;75;p17"/>
          <p:cNvCxnSpPr/>
          <p:nvPr/>
        </p:nvCxnSpPr>
        <p:spPr>
          <a:xfrm>
            <a:off x="425160" y="415440"/>
            <a:ext cx="184680" cy="144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17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8829FA-D5AC-4BD7-97AB-912C17F51F04}" type="slidenum">
              <a:rPr b="0" lang="en-GB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80;p18"/>
          <p:cNvCxnSpPr/>
          <p:nvPr/>
        </p:nvCxnSpPr>
        <p:spPr>
          <a:xfrm>
            <a:off x="425160" y="415440"/>
            <a:ext cx="8298000" cy="144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64" name="Google Shape;81;p18"/>
          <p:cNvCxnSpPr/>
          <p:nvPr/>
        </p:nvCxnSpPr>
        <p:spPr>
          <a:xfrm>
            <a:off x="425160" y="4739760"/>
            <a:ext cx="8298000" cy="14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65" name="PlaceHolder 1"/>
          <p:cNvSpPr>
            <a:spLocks noGrp="1"/>
          </p:cNvSpPr>
          <p:nvPr>
            <p:ph type="sldNum" idx="18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0D50D0-D7DB-455F-A08B-5A685C0FA6D6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Num" idx="19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296A77-8244-417E-93AF-9C43A37283C3}" type="slidenum">
              <a:rPr b="0" lang="en-GB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90;p20"/>
          <p:cNvCxnSpPr/>
          <p:nvPr/>
        </p:nvCxnSpPr>
        <p:spPr>
          <a:xfrm>
            <a:off x="425160" y="4739760"/>
            <a:ext cx="8298000" cy="144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72" name="Google Shape;91;p20"/>
          <p:cNvCxnSpPr/>
          <p:nvPr/>
        </p:nvCxnSpPr>
        <p:spPr>
          <a:xfrm>
            <a:off x="425160" y="415440"/>
            <a:ext cx="8298000" cy="144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sp>
        <p:nvSpPr>
          <p:cNvPr id="73" name="PlaceHolder 1"/>
          <p:cNvSpPr>
            <a:spLocks noGrp="1"/>
          </p:cNvSpPr>
          <p:nvPr>
            <p:ph type="sldNum" idx="20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11D430-5386-483D-8A13-5B8BDB104E43}" type="slidenum">
              <a:rPr b="0" lang="en-GB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21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6203C3-4CCE-411A-9F4E-7C8C7F7F2DDF}" type="slidenum">
              <a:rPr b="0" lang="en-GB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99;p22"/>
          <p:cNvCxnSpPr/>
          <p:nvPr/>
        </p:nvCxnSpPr>
        <p:spPr>
          <a:xfrm>
            <a:off x="425160" y="415440"/>
            <a:ext cx="184680" cy="144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sldNum" idx="22"/>
          </p:nvPr>
        </p:nvSpPr>
        <p:spPr>
          <a:xfrm>
            <a:off x="8498160" y="468864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F97D5B-1E19-49A4-BCBA-11F89CC93E7D}" type="slidenum">
              <a:rPr b="0" lang="en-GB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github.com/sasikiran-workmode/MAD-2" TargetMode="External"/><Relationship Id="rId2" Type="http://schemas.openxmlformats.org/officeDocument/2006/relationships/hyperlink" Target="https://github.com/Suhas-Koheda/evidence-mad/tree/main/traces" TargetMode="External"/><Relationship Id="rId3" Type="http://schemas.openxmlformats.org/officeDocument/2006/relationships/hyperlink" Target="https://github.com/Suhas-Koheda/evidence-mad/blob/main/Multi-Agent%20Debate%20Framework%20-%20Final%20Literature%20Review%20Updated.pptx" TargetMode="External"/><Relationship Id="rId4" Type="http://schemas.openxmlformats.org/officeDocument/2006/relationships/hyperlink" Target="https://github.com/Suhas-Koheda/evidence-mad/tree/main/architecture" TargetMode="External"/><Relationship Id="rId5" Type="http://schemas.openxmlformats.org/officeDocument/2006/relationships/slideLayout" Target="../slideLayouts/slideLayout1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371680" y="630360"/>
            <a:ext cx="6330240" cy="154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pc="-1" strike="noStrike">
                <a:solidFill>
                  <a:srgbClr val="ffffff"/>
                </a:solidFill>
                <a:latin typeface="Arial"/>
                <a:ea typeface="Arial"/>
              </a:rPr>
              <a:t>Multi Agent Debate Framework Using Evidence Disagreement Triggering and Conflict Type Classification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2413440" y="3238560"/>
            <a:ext cx="6330240" cy="12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80" spc="-1" strike="noStrike">
                <a:solidFill>
                  <a:srgbClr val="ffffff"/>
                </a:solidFill>
                <a:latin typeface="Arial"/>
                <a:ea typeface="Arial"/>
              </a:rPr>
              <a:t>FINAL PROJECT REVIEW  •  OCTOBER 2026</a:t>
            </a:r>
            <a:endParaRPr b="0" lang="en-IN" sz="980" spc="-1" strike="noStrike">
              <a:solidFill>
                <a:srgbClr val="ffffff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0" spc="-1" strike="noStrike">
                <a:solidFill>
                  <a:srgbClr val="ffffff"/>
                </a:solidFill>
                <a:latin typeface="Arial"/>
                <a:ea typeface="Arial"/>
              </a:rPr>
              <a:t>Evidence-MAD | VIT Chennai</a:t>
            </a:r>
            <a:endParaRPr b="0" lang="en-IN" sz="980" spc="-1" strike="noStrike">
              <a:solidFill>
                <a:srgbClr val="ffffff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0" spc="-1" strike="noStrike">
                <a:solidFill>
                  <a:srgbClr val="ffffff"/>
                </a:solidFill>
                <a:latin typeface="Arial"/>
                <a:ea typeface="Arial"/>
              </a:rPr>
              <a:t>Faculty guide: Dr M. Marimuthu</a:t>
            </a:r>
            <a:endParaRPr b="0" lang="en-IN" sz="980" spc="-1" strike="noStrike">
              <a:solidFill>
                <a:srgbClr val="ffffff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0" spc="-1" strike="noStrike">
                <a:solidFill>
                  <a:srgbClr val="ffffff"/>
                </a:solidFill>
                <a:latin typeface="Arial"/>
                <a:ea typeface="Arial"/>
              </a:rPr>
              <a:t>Students: M. Reddy Sasi Kiran (23BAI1188)  •  Suhas Koheda (23BAI1148)  •  C. R. Suhas (23BAI1187)</a:t>
            </a:r>
            <a:endParaRPr b="0" lang="en-IN" sz="9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65680" y="1912680"/>
            <a:ext cx="4043880" cy="131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f2672d"/>
                </a:solidFill>
                <a:latin typeface="Arial"/>
                <a:ea typeface="Arial"/>
              </a:rPr>
              <a:t>Project overview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939560" y="724320"/>
            <a:ext cx="3835440" cy="369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040" spc="-1" strike="noStrike">
                <a:solidFill>
                  <a:srgbClr val="ffffff"/>
                </a:solidFill>
                <a:latin typeface="Arial"/>
                <a:ea typeface="Arial"/>
              </a:rPr>
              <a:t>Project status</a:t>
            </a: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40" spc="-1" strike="noStrike">
                <a:solidFill>
                  <a:srgbClr val="ffffff"/>
                </a:solidFill>
                <a:latin typeface="Arial"/>
                <a:ea typeface="Arial"/>
              </a:rPr>
              <a:t>Built a multi-agent QA pipeline with retrieval, claim normalization, an NLI gate, conflict classification, debate, and JSON traces.</a:t>
            </a: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40" spc="-1" strike="noStrike">
                <a:solidFill>
                  <a:srgbClr val="ffffff"/>
                </a:solidFill>
                <a:latin typeface="Arial"/>
                <a:ea typeface="Arial"/>
              </a:rPr>
              <a:t>Run summary</a:t>
            </a: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40" spc="-1" strike="noStrike">
                <a:solidFill>
                  <a:srgbClr val="ffffff"/>
                </a:solidFill>
                <a:latin typeface="Arial"/>
                <a:ea typeface="Arial"/>
              </a:rPr>
              <a:t>96 questions were evaluated across six configurations.</a:t>
            </a: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40" spc="-1" strike="noStrike">
                <a:solidFill>
                  <a:srgbClr val="ffffff"/>
                </a:solidFill>
                <a:latin typeface="Arial"/>
                <a:ea typeface="Arial"/>
              </a:rPr>
              <a:t>Evidence-MAD triggered debate on 22 (22.9%).</a:t>
            </a: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40" spc="-1" strike="noStrike">
                <a:solidFill>
                  <a:srgbClr val="ffffff"/>
                </a:solidFill>
                <a:latin typeface="Arial"/>
                <a:ea typeface="Arial"/>
              </a:rPr>
              <a:t>Standard MAD triggered debate on 50 (52.1%).</a:t>
            </a: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40" spc="-1" strike="noStrike">
                <a:solidFill>
                  <a:srgbClr val="ffffff"/>
                </a:solidFill>
                <a:latin typeface="Arial"/>
                <a:ea typeface="Arial"/>
              </a:rPr>
              <a:t>Interpretation</a:t>
            </a: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40" spc="-1" strike="noStrike">
                <a:solidFill>
                  <a:srgbClr val="ffffff"/>
                </a:solidFill>
                <a:latin typeface="Arial"/>
                <a:ea typeface="Arial"/>
              </a:rPr>
              <a:t>The saved traces have no gold answer labels. These results describe routing and runtime behaviour, not answer accuracy.</a:t>
            </a:r>
            <a:endParaRPr b="0" lang="en-IN" sz="10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Related work and research gap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240048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Debate and adaptive collaboration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Multi-agent debate studies role-based critique, revision, and consensus [2–4].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Adaptive debate asks when collaboration is needed [5].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Evidence-MAD tests an evidence-state trigger before debate.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65056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Retrieval and conflicting evidence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RAG grounds generation in retrieved passages [1].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Multi-agent retrieval systems filter or select evidence [6, 7].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Conflict work studies disagreement in search results [8, 9].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The current run describes behavior; it does not establish a performance advantage.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Evidence retrieval and NLI gate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240048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Sources observed in trace decisions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Web agent (DuckDuckGo)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Reference agent (Wikipedia)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Wikidata agent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Independent LLM answer candidate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Trace audit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Crossref, OpenAlex, arXiv, and Europe PMC appear in the configured-source signature but were not selected in these runs.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565056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Evidence preparation and gate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Filter snippets for query relevance; normalize them into claims.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Compare claim pairs in both directions with NLI.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States: AGREEMENT, DISAGREEMENT, UNCERTAIN, INSUFFICIENT.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Disagreement routes to conflict classification and debate.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Uncertain or insufficient evidence remains qualified.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400120" y="58536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System architecture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Google Shape;143;p29" descr="evidence_mad_architecture.png"/>
          <p:cNvPicPr/>
          <p:nvPr/>
        </p:nvPicPr>
        <p:blipFill>
          <a:blip r:embed="rId1"/>
          <a:stretch/>
        </p:blipFill>
        <p:spPr>
          <a:xfrm>
            <a:off x="438840" y="1280160"/>
            <a:ext cx="8273880" cy="324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Evidence gate and debate architecture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Google Shape;150;p30" descr="architecture_diagram.png"/>
          <p:cNvPicPr/>
          <p:nvPr/>
        </p:nvPicPr>
        <p:blipFill>
          <a:blip r:embed="rId1"/>
          <a:stretch/>
        </p:blipFill>
        <p:spPr>
          <a:xfrm>
            <a:off x="438840" y="1280160"/>
            <a:ext cx="8273880" cy="324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NLI gate and query aware checks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240048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Pairwise NLI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RoBERTa large fine tuned on SNLI, MultiNLI, FEVER-NLI, and ANLI.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Run in both premise directions.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Contradiction threshold: 0.70.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Entailment threshold: 0.70 for agreement.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565056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Query aware guards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Entity substitution.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Explicit epistemic challenge.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Target resolution mismatch.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These checks address cases where generic sentence pair inference can miss the query’s target.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Conflict resolution and application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240048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Five conflict types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FACTUAL — incompatible propositions or values.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TEMPORAL — different dates or periods.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VERSION — different releases or documents.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CONTEXTUAL — different populations or conditions.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SOURCE — different source authority.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Type-specific prompts direct the debate toward the relevant distinction.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65056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Debate lifecycle and application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Proposer presents an evidence led position.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Critic identifies unsupported claims.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Reviser responds; Judge prioritizes evidence.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Early stopping and a maximum-round limit are supported.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10" spc="-1" strike="noStrike">
                <a:solidFill>
                  <a:schemeClr val="dk2"/>
                </a:solidFill>
                <a:latin typeface="Arial"/>
                <a:ea typeface="Arial"/>
              </a:rPr>
              <a:t>FastAPI backend, browser UI, and JSON traces.</a:t>
            </a:r>
            <a:endParaRPr b="0" lang="en-IN" sz="10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Evaluation design and limitations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240048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Matched run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Same 96 questions across six configurations.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One live run; model identifiers vary by system.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No gold answer labels in this trace bundle.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Accuracy and conflict precision/recall are not scored.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Interpretation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A lower debate rate does not prove that skipped debates were unnecessary.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65056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Operational caveats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Some debates were partial or failed.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Evidence states are system outputs, not gold labels.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Retrieval and model services can change between runs.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Long latency tails occur in the live traces.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Next evaluation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Add answer and claim-pair labels; pin the model and evidence snapshot; repeat the comparison.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06440" y="1806840"/>
            <a:ext cx="8295480" cy="154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600" spc="-1" strike="noStrike">
                <a:solidFill>
                  <a:srgbClr val="ffffff"/>
                </a:solidFill>
                <a:latin typeface="Arial"/>
                <a:ea typeface="Arial"/>
              </a:rPr>
              <a:t>Results and trace analysis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82;p35"/>
          <p:cNvSpPr/>
          <p:nvPr/>
        </p:nvSpPr>
        <p:spPr>
          <a:xfrm>
            <a:off x="340920" y="2198880"/>
            <a:ext cx="1870920" cy="74412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340920" y="2336400"/>
            <a:ext cx="1454040" cy="4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rgbClr val="333333"/>
                </a:solidFill>
                <a:latin typeface="Arial"/>
                <a:ea typeface="Arial"/>
              </a:rPr>
              <a:t>Dataset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5" name="Google Shape;184;p35"/>
          <p:cNvGrpSpPr/>
          <p:nvPr/>
        </p:nvGrpSpPr>
        <p:grpSpPr>
          <a:xfrm>
            <a:off x="969120" y="1610280"/>
            <a:ext cx="197640" cy="594360"/>
            <a:chOff x="969120" y="1610280"/>
            <a:chExt cx="197640" cy="594360"/>
          </a:xfrm>
        </p:grpSpPr>
        <p:cxnSp>
          <p:nvCxnSpPr>
            <p:cNvPr id="106" name="Google Shape;185;p35"/>
            <p:cNvCxnSpPr/>
            <p:nvPr/>
          </p:nvCxnSpPr>
          <p:spPr>
            <a:xfrm>
              <a:off x="1068480" y="1649160"/>
              <a:ext cx="1440" cy="5558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sp>
          <p:nvSpPr>
            <p:cNvPr id="107" name="Google Shape;186;p35"/>
            <p:cNvSpPr/>
            <p:nvPr/>
          </p:nvSpPr>
          <p:spPr>
            <a:xfrm>
              <a:off x="969120" y="1610280"/>
              <a:ext cx="197640" cy="197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9840" bIns="69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40920" y="1081440"/>
            <a:ext cx="2241360" cy="90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100" spc="-1" strike="noStrike">
                <a:solidFill>
                  <a:srgbClr val="333333"/>
                </a:solidFill>
                <a:latin typeface="Arial"/>
                <a:ea typeface="Arial"/>
              </a:rPr>
              <a:t>Use 96 questions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88;p35"/>
          <p:cNvSpPr/>
          <p:nvPr/>
        </p:nvSpPr>
        <p:spPr>
          <a:xfrm>
            <a:off x="1816920" y="2198880"/>
            <a:ext cx="2049840" cy="744120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2126160" y="2336400"/>
            <a:ext cx="1314000" cy="4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rgbClr val="333333"/>
                </a:solidFill>
                <a:latin typeface="Arial"/>
                <a:ea typeface="Arial"/>
              </a:rPr>
              <a:t>Execution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" name="Google Shape;190;p35"/>
          <p:cNvGrpSpPr/>
          <p:nvPr/>
        </p:nvGrpSpPr>
        <p:grpSpPr>
          <a:xfrm>
            <a:off x="2684880" y="2938680"/>
            <a:ext cx="197640" cy="594000"/>
            <a:chOff x="2684880" y="2938680"/>
            <a:chExt cx="197640" cy="594000"/>
          </a:xfrm>
        </p:grpSpPr>
        <p:cxnSp>
          <p:nvCxnSpPr>
            <p:cNvPr id="112" name="Google Shape;191;p35"/>
            <p:cNvCxnSpPr/>
            <p:nvPr/>
          </p:nvCxnSpPr>
          <p:spPr>
            <a:xfrm flipV="1">
              <a:off x="2783880" y="2938680"/>
              <a:ext cx="1440" cy="556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sp>
          <p:nvSpPr>
            <p:cNvPr id="113" name="Google Shape;192;p35"/>
            <p:cNvSpPr/>
            <p:nvPr/>
          </p:nvSpPr>
          <p:spPr>
            <a:xfrm flipH="1" rot="10800000">
              <a:off x="2684520" y="3335040"/>
              <a:ext cx="197640" cy="197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9840" bIns="69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1796040" y="3579120"/>
            <a:ext cx="2241360" cy="90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100" spc="-1" strike="noStrike">
                <a:solidFill>
                  <a:srgbClr val="333333"/>
                </a:solidFill>
                <a:latin typeface="Arial"/>
                <a:ea typeface="Arial"/>
              </a:rPr>
              <a:t>Run six configurations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94;p35"/>
          <p:cNvSpPr/>
          <p:nvPr/>
        </p:nvSpPr>
        <p:spPr>
          <a:xfrm>
            <a:off x="3471840" y="2198880"/>
            <a:ext cx="2049840" cy="744120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/>
          </p:nvPr>
        </p:nvSpPr>
        <p:spPr>
          <a:xfrm>
            <a:off x="3767760" y="2336400"/>
            <a:ext cx="1314000" cy="4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rgbClr val="333333"/>
                </a:solidFill>
                <a:latin typeface="Arial"/>
                <a:ea typeface="Arial"/>
              </a:rPr>
              <a:t>Trace audit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7" name="Google Shape;196;p35"/>
          <p:cNvGrpSpPr/>
          <p:nvPr/>
        </p:nvGrpSpPr>
        <p:grpSpPr>
          <a:xfrm>
            <a:off x="4319640" y="1610280"/>
            <a:ext cx="197640" cy="594360"/>
            <a:chOff x="4319640" y="1610280"/>
            <a:chExt cx="197640" cy="594360"/>
          </a:xfrm>
        </p:grpSpPr>
        <p:cxnSp>
          <p:nvCxnSpPr>
            <p:cNvPr id="118" name="Google Shape;197;p35"/>
            <p:cNvCxnSpPr/>
            <p:nvPr/>
          </p:nvCxnSpPr>
          <p:spPr>
            <a:xfrm>
              <a:off x="4419000" y="1649160"/>
              <a:ext cx="1440" cy="5558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sp>
          <p:nvSpPr>
            <p:cNvPr id="119" name="Google Shape;198;p35"/>
            <p:cNvSpPr/>
            <p:nvPr/>
          </p:nvSpPr>
          <p:spPr>
            <a:xfrm>
              <a:off x="4319640" y="1610280"/>
              <a:ext cx="197640" cy="197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9840" bIns="69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0" name="PlaceHolder 6"/>
          <p:cNvSpPr>
            <a:spLocks noGrp="1"/>
          </p:cNvSpPr>
          <p:nvPr>
            <p:ph/>
          </p:nvPr>
        </p:nvSpPr>
        <p:spPr>
          <a:xfrm>
            <a:off x="3450600" y="1081440"/>
            <a:ext cx="2241360" cy="90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100" spc="-1" strike="noStrike">
                <a:solidFill>
                  <a:srgbClr val="333333"/>
                </a:solidFill>
                <a:latin typeface="Arial"/>
                <a:ea typeface="Arial"/>
              </a:rPr>
              <a:t>Read saved traces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200;p35"/>
          <p:cNvSpPr/>
          <p:nvPr/>
        </p:nvSpPr>
        <p:spPr>
          <a:xfrm>
            <a:off x="5126760" y="2198880"/>
            <a:ext cx="2049840" cy="744120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5416560" y="2336400"/>
            <a:ext cx="1314000" cy="4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rgbClr val="333333"/>
                </a:solidFill>
                <a:latin typeface="Arial"/>
                <a:ea typeface="Arial"/>
              </a:rPr>
              <a:t>Analysis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3" name="Google Shape;202;p35"/>
          <p:cNvGrpSpPr/>
          <p:nvPr/>
        </p:nvGrpSpPr>
        <p:grpSpPr>
          <a:xfrm>
            <a:off x="5973120" y="2938680"/>
            <a:ext cx="197640" cy="594000"/>
            <a:chOff x="5973120" y="2938680"/>
            <a:chExt cx="197640" cy="594000"/>
          </a:xfrm>
        </p:grpSpPr>
        <p:cxnSp>
          <p:nvCxnSpPr>
            <p:cNvPr id="124" name="Google Shape;203;p35"/>
            <p:cNvCxnSpPr/>
            <p:nvPr/>
          </p:nvCxnSpPr>
          <p:spPr>
            <a:xfrm flipV="1">
              <a:off x="6072480" y="2938680"/>
              <a:ext cx="1440" cy="556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sp>
          <p:nvSpPr>
            <p:cNvPr id="125" name="Google Shape;204;p35"/>
            <p:cNvSpPr/>
            <p:nvPr/>
          </p:nvSpPr>
          <p:spPr>
            <a:xfrm flipH="1" rot="10800000">
              <a:off x="5972760" y="3335040"/>
              <a:ext cx="197640" cy="197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9840" bIns="69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6" name="PlaceHolder 8"/>
          <p:cNvSpPr>
            <a:spLocks noGrp="1"/>
          </p:cNvSpPr>
          <p:nvPr>
            <p:ph/>
          </p:nvPr>
        </p:nvSpPr>
        <p:spPr>
          <a:xfrm>
            <a:off x="5220720" y="3485160"/>
            <a:ext cx="2241360" cy="90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100" spc="-1" strike="noStrike">
                <a:solidFill>
                  <a:srgbClr val="333333"/>
                </a:solidFill>
                <a:latin typeface="Arial"/>
                <a:ea typeface="Arial"/>
              </a:rPr>
              <a:t>Compare routing and runtime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206;p35"/>
          <p:cNvSpPr/>
          <p:nvPr/>
        </p:nvSpPr>
        <p:spPr>
          <a:xfrm>
            <a:off x="6781680" y="2198880"/>
            <a:ext cx="2049840" cy="744120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9"/>
          <p:cNvSpPr>
            <a:spLocks noGrp="1"/>
          </p:cNvSpPr>
          <p:nvPr>
            <p:ph/>
          </p:nvPr>
        </p:nvSpPr>
        <p:spPr>
          <a:xfrm>
            <a:off x="7111440" y="2336400"/>
            <a:ext cx="1314000" cy="4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rgbClr val="333333"/>
                </a:solidFill>
                <a:latin typeface="Arial"/>
                <a:ea typeface="Arial"/>
              </a:rPr>
              <a:t>Reporting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9" name="Google Shape;208;p35"/>
          <p:cNvGrpSpPr/>
          <p:nvPr/>
        </p:nvGrpSpPr>
        <p:grpSpPr>
          <a:xfrm>
            <a:off x="7669800" y="1610280"/>
            <a:ext cx="197640" cy="594360"/>
            <a:chOff x="7669800" y="1610280"/>
            <a:chExt cx="197640" cy="594360"/>
          </a:xfrm>
        </p:grpSpPr>
        <p:cxnSp>
          <p:nvCxnSpPr>
            <p:cNvPr id="130" name="Google Shape;209;p35"/>
            <p:cNvCxnSpPr/>
            <p:nvPr/>
          </p:nvCxnSpPr>
          <p:spPr>
            <a:xfrm>
              <a:off x="7769160" y="1649160"/>
              <a:ext cx="1440" cy="5558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sp>
          <p:nvSpPr>
            <p:cNvPr id="131" name="Google Shape;210;p35"/>
            <p:cNvSpPr/>
            <p:nvPr/>
          </p:nvSpPr>
          <p:spPr>
            <a:xfrm>
              <a:off x="7669800" y="1610280"/>
              <a:ext cx="197640" cy="197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9840" bIns="69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2" name="PlaceHolder 10"/>
          <p:cNvSpPr>
            <a:spLocks noGrp="1"/>
          </p:cNvSpPr>
          <p:nvPr>
            <p:ph/>
          </p:nvPr>
        </p:nvSpPr>
        <p:spPr>
          <a:xfrm>
            <a:off x="6731640" y="1081440"/>
            <a:ext cx="2241360" cy="90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100" spc="-1" strike="noStrike">
                <a:solidFill>
                  <a:srgbClr val="333333"/>
                </a:solidFill>
                <a:latin typeface="Arial"/>
                <a:ea typeface="Arial"/>
              </a:rPr>
              <a:t>State limits clearly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212;p35"/>
          <p:cNvSpPr/>
          <p:nvPr/>
        </p:nvSpPr>
        <p:spPr>
          <a:xfrm>
            <a:off x="365760" y="95040"/>
            <a:ext cx="81367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700" spc="-1" strike="noStrike">
                <a:solidFill>
                  <a:srgbClr val="333333"/>
                </a:solidFill>
                <a:latin typeface="Arial"/>
                <a:ea typeface="Arial"/>
              </a:rPr>
              <a:t>Evaluation workflow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Debate activation by configuration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218;p36"/>
          <p:cNvSpPr/>
          <p:nvPr/>
        </p:nvSpPr>
        <p:spPr>
          <a:xfrm>
            <a:off x="2404800" y="1444320"/>
            <a:ext cx="3016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200" spc="-1" strike="noStrike">
                <a:solidFill>
                  <a:srgbClr val="333333"/>
                </a:solidFill>
                <a:latin typeface="Arial"/>
                <a:ea typeface="Arial"/>
              </a:rPr>
              <a:t>Compared systems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219;p36"/>
          <p:cNvSpPr/>
          <p:nvPr/>
        </p:nvSpPr>
        <p:spPr>
          <a:xfrm>
            <a:off x="2404800" y="180540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Single LLM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220;p36"/>
          <p:cNvSpPr/>
          <p:nvPr/>
        </p:nvSpPr>
        <p:spPr>
          <a:xfrm>
            <a:off x="3682800" y="182412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Google Shape;221;p36"/>
          <p:cNvSpPr/>
          <p:nvPr/>
        </p:nvSpPr>
        <p:spPr>
          <a:xfrm>
            <a:off x="4990320" y="180864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5e6368"/>
                </a:solidFill>
                <a:latin typeface="Arial"/>
                <a:ea typeface="Arial"/>
              </a:rPr>
              <a:t>0%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222;p36"/>
          <p:cNvSpPr/>
          <p:nvPr/>
        </p:nvSpPr>
        <p:spPr>
          <a:xfrm>
            <a:off x="2404800" y="219852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Standard MAD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223;p36"/>
          <p:cNvSpPr/>
          <p:nvPr/>
        </p:nvSpPr>
        <p:spPr>
          <a:xfrm>
            <a:off x="3682800" y="221760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224;p36"/>
          <p:cNvSpPr/>
          <p:nvPr/>
        </p:nvSpPr>
        <p:spPr>
          <a:xfrm>
            <a:off x="3682800" y="2217600"/>
            <a:ext cx="1276560" cy="144720"/>
          </a:xfrm>
          <a:prstGeom prst="rect">
            <a:avLst/>
          </a:prstGeom>
          <a:solidFill>
            <a:srgbClr val="f2672d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225;p36"/>
          <p:cNvSpPr/>
          <p:nvPr/>
        </p:nvSpPr>
        <p:spPr>
          <a:xfrm>
            <a:off x="4990320" y="220176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f2672d"/>
                </a:solidFill>
                <a:latin typeface="Arial"/>
                <a:ea typeface="Arial"/>
              </a:rPr>
              <a:t>50%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226;p36"/>
          <p:cNvSpPr/>
          <p:nvPr/>
        </p:nvSpPr>
        <p:spPr>
          <a:xfrm>
            <a:off x="2404800" y="259164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Evidence-MAD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227;p36"/>
          <p:cNvSpPr/>
          <p:nvPr/>
        </p:nvSpPr>
        <p:spPr>
          <a:xfrm>
            <a:off x="3682800" y="261072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228;p36"/>
          <p:cNvSpPr/>
          <p:nvPr/>
        </p:nvSpPr>
        <p:spPr>
          <a:xfrm>
            <a:off x="3682800" y="2610720"/>
            <a:ext cx="560880" cy="144720"/>
          </a:xfrm>
          <a:prstGeom prst="rect">
            <a:avLst/>
          </a:prstGeom>
          <a:solidFill>
            <a:srgbClr val="b34b2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229;p36"/>
          <p:cNvSpPr/>
          <p:nvPr/>
        </p:nvSpPr>
        <p:spPr>
          <a:xfrm>
            <a:off x="4990320" y="259488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b34b24"/>
                </a:solidFill>
                <a:latin typeface="Arial"/>
                <a:ea typeface="Arial"/>
              </a:rPr>
              <a:t>22%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230;p36"/>
          <p:cNvSpPr/>
          <p:nvPr/>
        </p:nvSpPr>
        <p:spPr>
          <a:xfrm>
            <a:off x="5650920" y="1444320"/>
            <a:ext cx="2970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200" spc="-1" strike="noStrike">
                <a:solidFill>
                  <a:srgbClr val="333333"/>
                </a:solidFill>
                <a:latin typeface="Arial"/>
                <a:ea typeface="Arial"/>
              </a:rPr>
              <a:t>Ablations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31;p36"/>
          <p:cNvSpPr/>
          <p:nvPr/>
        </p:nvSpPr>
        <p:spPr>
          <a:xfrm>
            <a:off x="5650920" y="180540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Gate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232;p36"/>
          <p:cNvSpPr/>
          <p:nvPr/>
        </p:nvSpPr>
        <p:spPr>
          <a:xfrm>
            <a:off x="6928920" y="182412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33;p36"/>
          <p:cNvSpPr/>
          <p:nvPr/>
        </p:nvSpPr>
        <p:spPr>
          <a:xfrm>
            <a:off x="6928920" y="1824120"/>
            <a:ext cx="1276560" cy="144720"/>
          </a:xfrm>
          <a:prstGeom prst="rect">
            <a:avLst/>
          </a:prstGeom>
          <a:solidFill>
            <a:srgbClr val="f2672d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234;p36"/>
          <p:cNvSpPr/>
          <p:nvPr/>
        </p:nvSpPr>
        <p:spPr>
          <a:xfrm>
            <a:off x="8236440" y="180864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f2672d"/>
                </a:solidFill>
                <a:latin typeface="Arial"/>
                <a:ea typeface="Arial"/>
              </a:rPr>
              <a:t>50%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235;p36"/>
          <p:cNvSpPr/>
          <p:nvPr/>
        </p:nvSpPr>
        <p:spPr>
          <a:xfrm>
            <a:off x="5650920" y="219852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Typed Strategy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236;p36"/>
          <p:cNvSpPr/>
          <p:nvPr/>
        </p:nvSpPr>
        <p:spPr>
          <a:xfrm>
            <a:off x="6928920" y="221760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237;p36"/>
          <p:cNvSpPr/>
          <p:nvPr/>
        </p:nvSpPr>
        <p:spPr>
          <a:xfrm>
            <a:off x="6928920" y="2217600"/>
            <a:ext cx="586440" cy="144720"/>
          </a:xfrm>
          <a:prstGeom prst="rect">
            <a:avLst/>
          </a:prstGeom>
          <a:solidFill>
            <a:srgbClr val="b875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238;p36"/>
          <p:cNvSpPr/>
          <p:nvPr/>
        </p:nvSpPr>
        <p:spPr>
          <a:xfrm>
            <a:off x="8236440" y="220176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b87555"/>
                </a:solidFill>
                <a:latin typeface="Arial"/>
                <a:ea typeface="Arial"/>
              </a:rPr>
              <a:t>23%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239;p36"/>
          <p:cNvSpPr/>
          <p:nvPr/>
        </p:nvSpPr>
        <p:spPr>
          <a:xfrm>
            <a:off x="5650920" y="259164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Relevance Filter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240;p36"/>
          <p:cNvSpPr/>
          <p:nvPr/>
        </p:nvSpPr>
        <p:spPr>
          <a:xfrm>
            <a:off x="6928920" y="261072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241;p36"/>
          <p:cNvSpPr/>
          <p:nvPr/>
        </p:nvSpPr>
        <p:spPr>
          <a:xfrm>
            <a:off x="6928920" y="2610720"/>
            <a:ext cx="458640" cy="144720"/>
          </a:xfrm>
          <a:prstGeom prst="rect">
            <a:avLst/>
          </a:prstGeom>
          <a:solidFill>
            <a:srgbClr val="7d858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242;p36"/>
          <p:cNvSpPr/>
          <p:nvPr/>
        </p:nvSpPr>
        <p:spPr>
          <a:xfrm>
            <a:off x="8236440" y="259488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7d858b"/>
                </a:solidFill>
                <a:latin typeface="Arial"/>
                <a:ea typeface="Arial"/>
              </a:rPr>
              <a:t>18%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243;p36"/>
          <p:cNvSpPr/>
          <p:nvPr/>
        </p:nvSpPr>
        <p:spPr>
          <a:xfrm>
            <a:off x="2423160" y="3301920"/>
            <a:ext cx="62164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GB" sz="950" spc="-1" strike="noStrike">
                <a:solidFill>
                  <a:srgbClr val="5e6368"/>
                </a:solidFill>
                <a:latin typeface="Arial"/>
                <a:ea typeface="Arial"/>
              </a:rPr>
              <a:t>Values are percentages of 96 traces. Lower activation is a routing observation, not evidence that the system skipped only unnecessary debates.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Latency by configuration (seconds)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49;p37"/>
          <p:cNvSpPr/>
          <p:nvPr/>
        </p:nvSpPr>
        <p:spPr>
          <a:xfrm>
            <a:off x="2404800" y="1384200"/>
            <a:ext cx="3016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150" spc="-1" strike="noStrike">
                <a:solidFill>
                  <a:srgbClr val="f2672d"/>
                </a:solidFill>
                <a:latin typeface="Arial"/>
                <a:ea typeface="Arial"/>
              </a:rPr>
              <a:t>Median (p50)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oogle Shape;250;p37"/>
          <p:cNvSpPr/>
          <p:nvPr/>
        </p:nvSpPr>
        <p:spPr>
          <a:xfrm>
            <a:off x="2404800" y="174132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Single LLM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51;p37"/>
          <p:cNvSpPr/>
          <p:nvPr/>
        </p:nvSpPr>
        <p:spPr>
          <a:xfrm>
            <a:off x="3682800" y="176004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252;p37"/>
          <p:cNvSpPr/>
          <p:nvPr/>
        </p:nvSpPr>
        <p:spPr>
          <a:xfrm>
            <a:off x="3682800" y="1760040"/>
            <a:ext cx="356400" cy="144720"/>
          </a:xfrm>
          <a:prstGeom prst="rect">
            <a:avLst/>
          </a:prstGeom>
          <a:solidFill>
            <a:srgbClr val="5e636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Google Shape;253;p37"/>
          <p:cNvSpPr/>
          <p:nvPr/>
        </p:nvSpPr>
        <p:spPr>
          <a:xfrm>
            <a:off x="4990320" y="174456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5e6368"/>
                </a:solidFill>
                <a:latin typeface="Arial"/>
                <a:ea typeface="Arial"/>
              </a:rPr>
              <a:t>16.8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254;p37"/>
          <p:cNvSpPr/>
          <p:nvPr/>
        </p:nvSpPr>
        <p:spPr>
          <a:xfrm>
            <a:off x="2404800" y="213444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Standard MAD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55;p37"/>
          <p:cNvSpPr/>
          <p:nvPr/>
        </p:nvSpPr>
        <p:spPr>
          <a:xfrm>
            <a:off x="3682800" y="215352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256;p37"/>
          <p:cNvSpPr/>
          <p:nvPr/>
        </p:nvSpPr>
        <p:spPr>
          <a:xfrm>
            <a:off x="3682800" y="2153520"/>
            <a:ext cx="1170000" cy="144720"/>
          </a:xfrm>
          <a:prstGeom prst="rect">
            <a:avLst/>
          </a:prstGeom>
          <a:solidFill>
            <a:srgbClr val="f2672d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257;p37"/>
          <p:cNvSpPr/>
          <p:nvPr/>
        </p:nvSpPr>
        <p:spPr>
          <a:xfrm>
            <a:off x="4990320" y="213768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f2672d"/>
                </a:solidFill>
                <a:latin typeface="Arial"/>
                <a:ea typeface="Arial"/>
              </a:rPr>
              <a:t>55.0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258;p37"/>
          <p:cNvSpPr/>
          <p:nvPr/>
        </p:nvSpPr>
        <p:spPr>
          <a:xfrm>
            <a:off x="2404800" y="252792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Evidence-MAD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259;p37"/>
          <p:cNvSpPr/>
          <p:nvPr/>
        </p:nvSpPr>
        <p:spPr>
          <a:xfrm>
            <a:off x="3682800" y="254664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60;p37"/>
          <p:cNvSpPr/>
          <p:nvPr/>
        </p:nvSpPr>
        <p:spPr>
          <a:xfrm>
            <a:off x="3682800" y="2546640"/>
            <a:ext cx="1063440" cy="144720"/>
          </a:xfrm>
          <a:prstGeom prst="rect">
            <a:avLst/>
          </a:prstGeom>
          <a:solidFill>
            <a:srgbClr val="b34b2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261;p37"/>
          <p:cNvSpPr/>
          <p:nvPr/>
        </p:nvSpPr>
        <p:spPr>
          <a:xfrm>
            <a:off x="4990320" y="253116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b34b24"/>
                </a:solidFill>
                <a:latin typeface="Arial"/>
                <a:ea typeface="Arial"/>
              </a:rPr>
              <a:t>50.0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62;p37"/>
          <p:cNvSpPr/>
          <p:nvPr/>
        </p:nvSpPr>
        <p:spPr>
          <a:xfrm>
            <a:off x="2404800" y="292104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Gate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63;p37"/>
          <p:cNvSpPr/>
          <p:nvPr/>
        </p:nvSpPr>
        <p:spPr>
          <a:xfrm>
            <a:off x="3682800" y="293976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64;p37"/>
          <p:cNvSpPr/>
          <p:nvPr/>
        </p:nvSpPr>
        <p:spPr>
          <a:xfrm>
            <a:off x="3682800" y="2939760"/>
            <a:ext cx="1063440" cy="144720"/>
          </a:xfrm>
          <a:prstGeom prst="rect">
            <a:avLst/>
          </a:prstGeom>
          <a:solidFill>
            <a:srgbClr val="d78a6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65;p37"/>
          <p:cNvSpPr/>
          <p:nvPr/>
        </p:nvSpPr>
        <p:spPr>
          <a:xfrm>
            <a:off x="4990320" y="292428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d78a68"/>
                </a:solidFill>
                <a:latin typeface="Arial"/>
                <a:ea typeface="Arial"/>
              </a:rPr>
              <a:t>50.0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266;p37"/>
          <p:cNvSpPr/>
          <p:nvPr/>
        </p:nvSpPr>
        <p:spPr>
          <a:xfrm>
            <a:off x="2404800" y="331416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Typed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67;p37"/>
          <p:cNvSpPr/>
          <p:nvPr/>
        </p:nvSpPr>
        <p:spPr>
          <a:xfrm>
            <a:off x="3682800" y="333288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68;p37"/>
          <p:cNvSpPr/>
          <p:nvPr/>
        </p:nvSpPr>
        <p:spPr>
          <a:xfrm>
            <a:off x="3682800" y="3332880"/>
            <a:ext cx="1170000" cy="144720"/>
          </a:xfrm>
          <a:prstGeom prst="rect">
            <a:avLst/>
          </a:prstGeom>
          <a:solidFill>
            <a:srgbClr val="b875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269;p37"/>
          <p:cNvSpPr/>
          <p:nvPr/>
        </p:nvSpPr>
        <p:spPr>
          <a:xfrm>
            <a:off x="4990320" y="331740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b87555"/>
                </a:solidFill>
                <a:latin typeface="Arial"/>
                <a:ea typeface="Arial"/>
              </a:rPr>
              <a:t>55.0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270;p37"/>
          <p:cNvSpPr/>
          <p:nvPr/>
        </p:nvSpPr>
        <p:spPr>
          <a:xfrm>
            <a:off x="2404800" y="370728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Relevance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71;p37"/>
          <p:cNvSpPr/>
          <p:nvPr/>
        </p:nvSpPr>
        <p:spPr>
          <a:xfrm>
            <a:off x="3682800" y="372600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272;p37"/>
          <p:cNvSpPr/>
          <p:nvPr/>
        </p:nvSpPr>
        <p:spPr>
          <a:xfrm>
            <a:off x="3682800" y="3726000"/>
            <a:ext cx="1170000" cy="144720"/>
          </a:xfrm>
          <a:prstGeom prst="rect">
            <a:avLst/>
          </a:prstGeom>
          <a:solidFill>
            <a:srgbClr val="7d858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73;p37"/>
          <p:cNvSpPr/>
          <p:nvPr/>
        </p:nvSpPr>
        <p:spPr>
          <a:xfrm>
            <a:off x="4990320" y="371052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7d858b"/>
                </a:solidFill>
                <a:latin typeface="Arial"/>
                <a:ea typeface="Arial"/>
              </a:rPr>
              <a:t>55.0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274;p37"/>
          <p:cNvSpPr/>
          <p:nvPr/>
        </p:nvSpPr>
        <p:spPr>
          <a:xfrm>
            <a:off x="5650920" y="1384200"/>
            <a:ext cx="3016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150" spc="-1" strike="noStrike">
                <a:solidFill>
                  <a:srgbClr val="333333"/>
                </a:solidFill>
                <a:latin typeface="Arial"/>
                <a:ea typeface="Arial"/>
              </a:rPr>
              <a:t>95th percentile (p95)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75;p37"/>
          <p:cNvSpPr/>
          <p:nvPr/>
        </p:nvSpPr>
        <p:spPr>
          <a:xfrm>
            <a:off x="5650920" y="174132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Single LLM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276;p37"/>
          <p:cNvSpPr/>
          <p:nvPr/>
        </p:nvSpPr>
        <p:spPr>
          <a:xfrm>
            <a:off x="6928920" y="176004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277;p37"/>
          <p:cNvSpPr/>
          <p:nvPr/>
        </p:nvSpPr>
        <p:spPr>
          <a:xfrm>
            <a:off x="6928920" y="1760040"/>
            <a:ext cx="136800" cy="144720"/>
          </a:xfrm>
          <a:prstGeom prst="rect">
            <a:avLst/>
          </a:prstGeom>
          <a:solidFill>
            <a:srgbClr val="5e636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278;p37"/>
          <p:cNvSpPr/>
          <p:nvPr/>
        </p:nvSpPr>
        <p:spPr>
          <a:xfrm>
            <a:off x="8236440" y="174456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5e6368"/>
                </a:solidFill>
                <a:latin typeface="Arial"/>
                <a:ea typeface="Arial"/>
              </a:rPr>
              <a:t>26.5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279;p37"/>
          <p:cNvSpPr/>
          <p:nvPr/>
        </p:nvSpPr>
        <p:spPr>
          <a:xfrm>
            <a:off x="5650920" y="213444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Standard MAD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280;p37"/>
          <p:cNvSpPr/>
          <p:nvPr/>
        </p:nvSpPr>
        <p:spPr>
          <a:xfrm>
            <a:off x="6928920" y="215352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281;p37"/>
          <p:cNvSpPr/>
          <p:nvPr/>
        </p:nvSpPr>
        <p:spPr>
          <a:xfrm>
            <a:off x="6928920" y="2153520"/>
            <a:ext cx="1101600" cy="144720"/>
          </a:xfrm>
          <a:prstGeom prst="rect">
            <a:avLst/>
          </a:prstGeom>
          <a:solidFill>
            <a:srgbClr val="f2672d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Google Shape;282;p37"/>
          <p:cNvSpPr/>
          <p:nvPr/>
        </p:nvSpPr>
        <p:spPr>
          <a:xfrm>
            <a:off x="8236440" y="213768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f2672d"/>
                </a:solidFill>
                <a:latin typeface="Arial"/>
                <a:ea typeface="Arial"/>
              </a:rPr>
              <a:t>211.5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283;p37"/>
          <p:cNvSpPr/>
          <p:nvPr/>
        </p:nvSpPr>
        <p:spPr>
          <a:xfrm>
            <a:off x="5650920" y="252792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Evidence-MAD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284;p37"/>
          <p:cNvSpPr/>
          <p:nvPr/>
        </p:nvSpPr>
        <p:spPr>
          <a:xfrm>
            <a:off x="6928920" y="254664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285;p37"/>
          <p:cNvSpPr/>
          <p:nvPr/>
        </p:nvSpPr>
        <p:spPr>
          <a:xfrm>
            <a:off x="6928920" y="2546640"/>
            <a:ext cx="1212120" cy="144720"/>
          </a:xfrm>
          <a:prstGeom prst="rect">
            <a:avLst/>
          </a:prstGeom>
          <a:solidFill>
            <a:srgbClr val="b34b2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Google Shape;286;p37"/>
          <p:cNvSpPr/>
          <p:nvPr/>
        </p:nvSpPr>
        <p:spPr>
          <a:xfrm>
            <a:off x="8236440" y="253116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b34b24"/>
                </a:solidFill>
                <a:latin typeface="Arial"/>
                <a:ea typeface="Arial"/>
              </a:rPr>
              <a:t>232.7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287;p37"/>
          <p:cNvSpPr/>
          <p:nvPr/>
        </p:nvSpPr>
        <p:spPr>
          <a:xfrm>
            <a:off x="5650920" y="292104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Gate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288;p37"/>
          <p:cNvSpPr/>
          <p:nvPr/>
        </p:nvSpPr>
        <p:spPr>
          <a:xfrm>
            <a:off x="6928920" y="293976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Google Shape;289;p37"/>
          <p:cNvSpPr/>
          <p:nvPr/>
        </p:nvSpPr>
        <p:spPr>
          <a:xfrm>
            <a:off x="6928920" y="2939760"/>
            <a:ext cx="1042920" cy="144720"/>
          </a:xfrm>
          <a:prstGeom prst="rect">
            <a:avLst/>
          </a:prstGeom>
          <a:solidFill>
            <a:srgbClr val="d78a6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290;p37"/>
          <p:cNvSpPr/>
          <p:nvPr/>
        </p:nvSpPr>
        <p:spPr>
          <a:xfrm>
            <a:off x="8236440" y="292428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d78a68"/>
                </a:solidFill>
                <a:latin typeface="Arial"/>
                <a:ea typeface="Arial"/>
              </a:rPr>
              <a:t>200.2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291;p37"/>
          <p:cNvSpPr/>
          <p:nvPr/>
        </p:nvSpPr>
        <p:spPr>
          <a:xfrm>
            <a:off x="5650920" y="331416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Typed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292;p37"/>
          <p:cNvSpPr/>
          <p:nvPr/>
        </p:nvSpPr>
        <p:spPr>
          <a:xfrm>
            <a:off x="6928920" y="333288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293;p37"/>
          <p:cNvSpPr/>
          <p:nvPr/>
        </p:nvSpPr>
        <p:spPr>
          <a:xfrm>
            <a:off x="6928920" y="3332880"/>
            <a:ext cx="1243080" cy="144720"/>
          </a:xfrm>
          <a:prstGeom prst="rect">
            <a:avLst/>
          </a:prstGeom>
          <a:solidFill>
            <a:srgbClr val="b875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Google Shape;294;p37"/>
          <p:cNvSpPr/>
          <p:nvPr/>
        </p:nvSpPr>
        <p:spPr>
          <a:xfrm>
            <a:off x="8236440" y="331740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b87555"/>
                </a:solidFill>
                <a:latin typeface="Arial"/>
                <a:ea typeface="Arial"/>
              </a:rPr>
              <a:t>238.6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Google Shape;295;p37"/>
          <p:cNvSpPr/>
          <p:nvPr/>
        </p:nvSpPr>
        <p:spPr>
          <a:xfrm>
            <a:off x="5650920" y="3707280"/>
            <a:ext cx="1246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900" spc="-1" strike="noStrike">
                <a:solidFill>
                  <a:srgbClr val="333333"/>
                </a:solidFill>
                <a:latin typeface="Arial"/>
                <a:ea typeface="Arial"/>
              </a:rPr>
              <a:t>No Relevance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Google Shape;296;p37"/>
          <p:cNvSpPr/>
          <p:nvPr/>
        </p:nvSpPr>
        <p:spPr>
          <a:xfrm>
            <a:off x="6928920" y="3726000"/>
            <a:ext cx="1276560" cy="144720"/>
          </a:xfrm>
          <a:prstGeom prst="rect">
            <a:avLst/>
          </a:prstGeom>
          <a:solidFill>
            <a:srgbClr val="e8e8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Google Shape;297;p37"/>
          <p:cNvSpPr/>
          <p:nvPr/>
        </p:nvSpPr>
        <p:spPr>
          <a:xfrm>
            <a:off x="6928920" y="3726000"/>
            <a:ext cx="1069920" cy="144720"/>
          </a:xfrm>
          <a:prstGeom prst="rect">
            <a:avLst/>
          </a:prstGeom>
          <a:solidFill>
            <a:srgbClr val="7d858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Google Shape;298;p37"/>
          <p:cNvSpPr/>
          <p:nvPr/>
        </p:nvSpPr>
        <p:spPr>
          <a:xfrm>
            <a:off x="8236440" y="3710520"/>
            <a:ext cx="384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GB" sz="860" spc="-1" strike="noStrike">
                <a:solidFill>
                  <a:srgbClr val="7d858b"/>
                </a:solidFill>
                <a:latin typeface="Arial"/>
                <a:ea typeface="Arial"/>
              </a:rPr>
              <a:t>205.4</a:t>
            </a:r>
            <a:endParaRPr b="0" lang="en-IN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Google Shape;299;p37"/>
          <p:cNvSpPr/>
          <p:nvPr/>
        </p:nvSpPr>
        <p:spPr>
          <a:xfrm>
            <a:off x="2423160" y="4236120"/>
            <a:ext cx="621648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9000" bIns="9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GB" sz="920" spc="-1" strike="noStrike">
                <a:solidFill>
                  <a:srgbClr val="5e6368"/>
                </a:solidFill>
                <a:latin typeface="Arial"/>
                <a:ea typeface="Arial"/>
              </a:rPr>
              <a:t>Evidence-MAD p50/p95 = 49.99/232.65 s; Standard MAD = 54.99/211.47 s.</a:t>
            </a:r>
            <a:endParaRPr b="0" lang="en-IN" sz="9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Evidence states and debate outcomes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240048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Evidence-MAD state counts (n = 96)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Insufficient: 47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Uncertain: 26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Disagreement: 22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Agreement: 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Debate outcomes: 16 completed, 1 partial, 5 failed.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565056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Standard MAD state counts (n = 96)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Insufficient: 46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Uncertain: 29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Disagreement: 16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Agreement: 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Debate outcomes: 29 completed, 21 failed.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Model calls and usable retrieval agents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240048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Mean model calls / question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Evidence-MAD: 1.85 successful; 0.39 failed.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Standard MAD: 1.42 successful; 0.49 failed.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No Typed Strategy: 1.90 successful; 0.49 failed.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Call counts include roles outside debate, such as normalization.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5650560" y="1602720"/>
            <a:ext cx="307008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Usable retrieval agents / question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Evidence-MAD: 1.31.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Standard MAD: 1.24.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Retrieval configurations: 1.24–1.31 on average.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en-GB" sz="989" spc="-1" strike="noStrike">
                <a:solidFill>
                  <a:schemeClr val="dk2"/>
                </a:solidFill>
                <a:latin typeface="Arial"/>
                <a:ea typeface="Arial"/>
              </a:rPr>
              <a:t>The configured source list is not the same as the number of agents that returned usable evidence.</a:t>
            </a:r>
            <a:endParaRPr b="0" lang="en-IN" sz="98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Results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060" spc="-1" strike="noStrike">
                <a:solidFill>
                  <a:schemeClr val="dk2"/>
                </a:solidFill>
                <a:latin typeface="Arial"/>
                <a:ea typeface="Arial"/>
              </a:rPr>
              <a:t>Debate activation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60" spc="-1" strike="noStrike">
                <a:solidFill>
                  <a:schemeClr val="dk2"/>
                </a:solidFill>
                <a:latin typeface="Arial"/>
                <a:ea typeface="Arial"/>
              </a:rPr>
              <a:t>Evidence-MAD: 22/96 (22.9%). Standard MAD: 50/96 (52.1%).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60" spc="-1" strike="noStrike">
                <a:solidFill>
                  <a:schemeClr val="dk2"/>
                </a:solidFill>
                <a:latin typeface="Arial"/>
                <a:ea typeface="Arial"/>
              </a:rPr>
              <a:t>Latency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60" spc="-1" strike="noStrike">
                <a:solidFill>
                  <a:schemeClr val="dk2"/>
                </a:solidFill>
                <a:latin typeface="Arial"/>
                <a:ea typeface="Arial"/>
              </a:rPr>
              <a:t>Evidence-MAD median / p95: 49.99 / 232.65 s. Standard MAD: 54.99 / 211.47 s.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60" spc="-1" strike="noStrike">
                <a:solidFill>
                  <a:schemeClr val="dk2"/>
                </a:solidFill>
                <a:latin typeface="Arial"/>
                <a:ea typeface="Arial"/>
              </a:rPr>
              <a:t>What follows from this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GB" sz="1060" spc="-1" strike="noStrike">
                <a:solidFill>
                  <a:schemeClr val="dk2"/>
                </a:solidFill>
                <a:latin typeface="Arial"/>
                <a:ea typeface="Arial"/>
              </a:rPr>
              <a:t>Evidence-MAD debated less often in this run. Without labels, we cannot tell whether it selected the right cases.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265680" y="1912680"/>
            <a:ext cx="4043880" cy="131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f2672d"/>
                </a:solidFill>
                <a:latin typeface="Arial"/>
                <a:ea typeface="Arial"/>
              </a:rPr>
              <a:t>Project links</a:t>
            </a:r>
            <a:br>
              <a:rPr sz="2400"/>
            </a:b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325;p41"/>
          <p:cNvSpPr/>
          <p:nvPr/>
        </p:nvSpPr>
        <p:spPr>
          <a:xfrm>
            <a:off x="5074920" y="1390680"/>
            <a:ext cx="36565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700" spc="-1" strike="noStrike">
                <a:solidFill>
                  <a:srgbClr val="ffffff"/>
                </a:solidFill>
                <a:latin typeface="Arial"/>
                <a:ea typeface="Arial"/>
              </a:rPr>
              <a:t>PROJECT LINKS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326;p41"/>
          <p:cNvSpPr/>
          <p:nvPr/>
        </p:nvSpPr>
        <p:spPr>
          <a:xfrm>
            <a:off x="5074920" y="1939320"/>
            <a:ext cx="3656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5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1"/>
              </a:rPr>
              <a:t>Code base: MAD 2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327;p41"/>
          <p:cNvSpPr/>
          <p:nvPr/>
        </p:nvSpPr>
        <p:spPr>
          <a:xfrm>
            <a:off x="5074920" y="2597760"/>
            <a:ext cx="3656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5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2"/>
              </a:rPr>
              <a:t>Evaluation traces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328;p41"/>
          <p:cNvSpPr/>
          <p:nvPr/>
        </p:nvSpPr>
        <p:spPr>
          <a:xfrm>
            <a:off x="5074920" y="3255840"/>
            <a:ext cx="3656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5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3"/>
              </a:rPr>
              <a:t>Literature review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329;p41"/>
          <p:cNvSpPr/>
          <p:nvPr/>
        </p:nvSpPr>
        <p:spPr>
          <a:xfrm>
            <a:off x="5074920" y="3914280"/>
            <a:ext cx="3656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5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4"/>
              </a:rPr>
              <a:t>Architecture diagrams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References</a:t>
            </a:r>
            <a:br>
              <a:rPr sz="2200"/>
            </a:b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950" spc="-1" strike="noStrike">
                <a:solidFill>
                  <a:schemeClr val="dk2"/>
                </a:solidFill>
                <a:latin typeface="Arial"/>
                <a:ea typeface="Arial"/>
              </a:rPr>
              <a:t>[1] P. Lewis et al., “Retrieval-Augmented Generation for Knowledge-Intensive NLP Tasks,” NeurIPS, 2020.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50" spc="-1" strike="noStrike">
                <a:solidFill>
                  <a:schemeClr val="dk2"/>
                </a:solidFill>
                <a:latin typeface="Arial"/>
                <a:ea typeface="Arial"/>
              </a:rPr>
              <a:t>[2] Y. Du et al., “Improving Factuality and Reasoning in Language Models Through Multiagent Debate,” ICML, 2024.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50" spc="-1" strike="noStrike">
                <a:solidFill>
                  <a:schemeClr val="dk2"/>
                </a:solidFill>
                <a:latin typeface="Arial"/>
                <a:ea typeface="Arial"/>
              </a:rPr>
              <a:t>[3] J. C.-Y. Chen et al., “ReConcile: Round-Table Conference Improves Reasoning via Consensus among Diverse LLMs,” ACL, 2024.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50" spc="-1" strike="noStrike">
                <a:solidFill>
                  <a:schemeClr val="dk2"/>
                </a:solidFill>
                <a:latin typeface="Arial"/>
                <a:ea typeface="Arial"/>
              </a:rPr>
              <a:t>[4] C.-M. Chan et al., “ChatEval: Towards Better LLM-Based Evaluators through Multi-Agent Debate,” ICLR, 2024.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50" spc="-1" strike="noStrike">
                <a:solidFill>
                  <a:schemeClr val="dk2"/>
                </a:solidFill>
                <a:latin typeface="Arial"/>
                <a:ea typeface="Arial"/>
              </a:rPr>
              <a:t>[5] S. Eo et al., “Debate Only When Necessary: Adaptive Multiagent Collaboration for Efficient LLM Reasoning,” arXiv, 2025.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50" spc="-1" strike="noStrike">
                <a:solidFill>
                  <a:schemeClr val="dk2"/>
                </a:solidFill>
                <a:latin typeface="Arial"/>
                <a:ea typeface="Arial"/>
              </a:rPr>
              <a:t>[6] C.-Y. Chang et al., “MAIN-RAG: Multi-Agent Filtering Retrieval-Augmented Generation,” ACL, 2025.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01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200" spc="-1" strike="noStrike">
                <a:solidFill>
                  <a:srgbClr val="333333"/>
                </a:solidFill>
                <a:latin typeface="Arial"/>
                <a:ea typeface="Arial"/>
              </a:rPr>
              <a:t>References</a:t>
            </a:r>
            <a:br>
              <a:rPr sz="2200"/>
            </a:b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016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920" spc="-1" strike="noStrike">
                <a:solidFill>
                  <a:schemeClr val="dk2"/>
                </a:solidFill>
                <a:latin typeface="Arial"/>
                <a:ea typeface="Arial"/>
              </a:rPr>
              <a:t>[7] H. Wang et al., “Retrieval-Augmented Generation with Conflicting Evidence,” COLM, 2025.</a:t>
            </a:r>
            <a:endParaRPr b="0" lang="en-IN" sz="92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20" spc="-1" strike="noStrike">
                <a:solidFill>
                  <a:schemeClr val="dk2"/>
                </a:solidFill>
                <a:latin typeface="Arial"/>
                <a:ea typeface="Arial"/>
              </a:rPr>
              <a:t>[8] A. Cattan et al., “DRAGged into Conflicts: Detecting and Addressing Conflicting Sources in Search-Augmented LLMs,” arXiv, 2025.</a:t>
            </a:r>
            <a:endParaRPr b="0" lang="en-IN" sz="92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20" spc="-1" strike="noStrike">
                <a:solidFill>
                  <a:schemeClr val="dk2"/>
                </a:solidFill>
                <a:latin typeface="Arial"/>
                <a:ea typeface="Arial"/>
              </a:rPr>
              <a:t>[9] R. Xu et al., “Knowledge Conflicts for LLMs: A Survey,” EMNLP, 2024.</a:t>
            </a:r>
            <a:endParaRPr b="0" lang="en-IN" sz="92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20" spc="-1" strike="noStrike">
                <a:solidFill>
                  <a:schemeClr val="dk2"/>
                </a:solidFill>
                <a:latin typeface="Arial"/>
                <a:ea typeface="Arial"/>
              </a:rPr>
              <a:t>[10] A. Williams, N. Nangia, and S. R. Bowman, “A Broad-Coverage Challenge Corpus for Sentence Understanding through Inference,” NAACL-HLT, 2018.</a:t>
            </a:r>
            <a:endParaRPr b="0" lang="en-IN" sz="92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20" spc="-1" strike="noStrike">
                <a:solidFill>
                  <a:schemeClr val="dk2"/>
                </a:solidFill>
                <a:latin typeface="Arial"/>
                <a:ea typeface="Arial"/>
              </a:rPr>
              <a:t>[11] H. Wang et al., “Learning to Break: Knowledge-Enhanced Reasoning in Multi-Agent Debate System,” Neurocomputing, 2025.</a:t>
            </a:r>
            <a:endParaRPr b="0" lang="en-IN" sz="92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0"/>
              </a:spcBef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-GB" sz="920" spc="-1" strike="noStrike">
                <a:solidFill>
                  <a:schemeClr val="dk2"/>
                </a:solidFill>
                <a:latin typeface="Arial"/>
                <a:ea typeface="Arial"/>
              </a:rPr>
              <a:t>[12] S. Jeong et al., “Tool-MAD: A Multi-Agent Debate Framework for Fact Verification with Diverse Tool Augmentation and Adaptive Retrieval,” arXiv, 2026.</a:t>
            </a:r>
            <a:endParaRPr b="0" lang="en-IN" sz="9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2026-10-20T10:05:49Z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